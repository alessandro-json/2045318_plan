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25"/>
  </p:normalViewPr>
  <p:slideViewPr>
    <p:cSldViewPr snapToGrid="0">
      <p:cViewPr>
        <p:scale>
          <a:sx n="97" d="100"/>
          <a:sy n="97" d="100"/>
        </p:scale>
        <p:origin x="12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D2E8ED-83FA-ED8A-DE6A-4E0C0CE5F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D322EF0-9AFD-A025-A8CD-676060501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A52D56-0C8E-A693-DE4A-08C8DCFF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526D5E-E796-4D9A-1DBC-0298586D5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1862F8-D677-8892-9C60-9A1B6F47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4801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65359F-8052-7A5C-2387-1283122F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BB5F22-739C-F19D-2251-05ADC4F5A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54A5D5-17CC-BA08-4A78-AC1D298E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F007CD-83AF-B430-07A4-3324D786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526DD7-A6AF-0016-84A5-9CC4AA78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840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9EE298-110D-AF22-0B97-D2F53FAF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4C5093-8040-0C69-181C-7B28ECD96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7E279B-563F-861D-DEE7-EFDAB5EE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A6904E-910E-F506-D0E0-436CD52A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C221CF-2D2A-D680-15D9-F2512A30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7080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09F08C-6286-8353-4278-F9FC21F3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3B81DB-23B1-A90D-5420-CD3394141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D2489AA-8CE4-A10E-4D2B-A04F0ED93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6A7224-26F0-21B2-9C39-662D505C6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15F3ED0-6AFE-B081-94C2-EFCA3A6F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37B610E-2EF0-8E9F-268E-1026A816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4782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CEB709-7CE2-EE8C-13EA-338E37EF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F6AB757-B8D1-922D-BEC6-D6D905E16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D10B09-4ADA-4B4E-21EE-E0E64B978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98E91AF-4944-8BDB-FF5E-C8EB1B49D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98B77E5-4F86-B2D8-AD88-0E878B850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2A7F367-B12E-1F2E-ADF8-ED1D65E7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E24E32C-526A-7847-E683-81A2BA39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7D4747B-6D4C-3A9D-B6F9-30E41EFC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8085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1C64D6-F6F7-941E-BB25-ADCF0EEB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22A216A-62B7-63B1-43AD-2FA82EF6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033537A-F98D-8294-6312-BD235E0B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33D83A2-0A24-1B90-5AA6-ED81ED34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198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B5C5F02-1F31-2590-46A6-23599220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3A8C6DA-2234-9C42-0891-50093FE5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F0096C-D8D2-3D8E-B5D5-0C2BD2BB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939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1861A-A99D-A0EE-7840-D6232F6E6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E3FB21-54E7-2244-FE11-C7CB7B379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A262562-6E3B-5310-1F57-F0CE1CAA9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DB6BFE-7683-4719-1396-ADDBDF26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846715-2468-E58A-F955-35C8DBCD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AFA5FA-2E3C-41C3-6662-D2A4D70B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329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A75DEB-411F-1D7B-E387-09F17174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71BCEE1-D3D2-CADF-F668-734871EF9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AF83E37-BEBB-CB82-1340-7285E947C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9EE1AE3-9950-1C1D-9A61-DD4949E07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89EDB6-31B7-EB8B-2222-203A1776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16E623-7CFE-897B-25F5-637EF0AD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805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300E7F-602F-3253-A848-4B991AFDC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12A4C9B-0884-ECF2-3EAE-E98D92387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3BE65C-93E4-5185-A400-87D03DA7C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F68C45-54DB-847A-BF4A-4F07C80A9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425391-CE33-E02F-B73E-87D7FE71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13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8E6D8E3-E7F8-48DA-FE10-9C6451859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53F0C7F-D966-59C6-0956-BD8D96BFD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136B43-5033-3B18-A837-4442B5D5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3B58A9-6F90-AEEF-09DF-64AD60DC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11FA56-99EA-08A8-5144-3DF7F6D23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686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8A03799-7695-5DD3-A026-A7AC1D9D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6D0AB1-9CDC-A02B-ADA4-3E4BF3B60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C40112-8BB8-F3D1-B8B3-808F83A97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29FB1-E493-044E-B8C9-0E0AAD31F55D}" type="datetimeFigureOut">
              <a:rPr lang="it-IT" smtClean="0"/>
              <a:t>09/03/26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90C0A2-6174-FFB5-9E83-CC00919DF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E9F254-DE2A-9DE2-CAF0-1C9622918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9C7C0-3744-C240-ABA6-2793FE1D00F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564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rgbClr val="FF0000"/>
            </a:gs>
            <a:gs pos="57000">
              <a:srgbClr val="FFFF00"/>
            </a:gs>
            <a:gs pos="85000">
              <a:schemeClr val="accent2">
                <a:lumMod val="10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4ADBC0-D125-C464-F2D3-68F9A839D9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PLAN(ET) MARS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CAD4139-5F83-A05D-498A-20F4513D7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Monitoring System</a:t>
            </a:r>
          </a:p>
          <a:p>
            <a:endParaRPr lang="it-IT" dirty="0"/>
          </a:p>
          <a:p>
            <a:endParaRPr lang="it-IT" sz="1800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it-IT" sz="1800" i="1" dirty="0" err="1">
                <a:solidFill>
                  <a:schemeClr val="bg2">
                    <a:lumMod val="75000"/>
                  </a:schemeClr>
                </a:solidFill>
              </a:rPr>
              <a:t>Pls</a:t>
            </a:r>
            <a:r>
              <a:rPr lang="it-IT" sz="1800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it-IT" sz="1800" i="1" dirty="0" err="1">
                <a:solidFill>
                  <a:schemeClr val="bg2">
                    <a:lumMod val="75000"/>
                  </a:schemeClr>
                </a:solidFill>
              </a:rPr>
              <a:t>dnt</a:t>
            </a:r>
            <a:r>
              <a:rPr lang="it-IT" sz="1800" i="1" dirty="0">
                <a:solidFill>
                  <a:schemeClr val="bg2">
                    <a:lumMod val="75000"/>
                  </a:schemeClr>
                </a:solidFill>
              </a:rPr>
              <a:t> die!!!1!1!1 XD </a:t>
            </a:r>
            <a:r>
              <a:rPr lang="it-IT" sz="1800" i="1" dirty="0" err="1">
                <a:solidFill>
                  <a:schemeClr val="bg2">
                    <a:lumMod val="75000"/>
                  </a:schemeClr>
                </a:solidFill>
              </a:rPr>
              <a:t>ahmed</a:t>
            </a:r>
            <a:r>
              <a:rPr lang="it-IT" sz="1800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it-IT" sz="1800" i="1" dirty="0" err="1">
                <a:solidFill>
                  <a:schemeClr val="bg2">
                    <a:lumMod val="75000"/>
                  </a:schemeClr>
                </a:solidFill>
              </a:rPr>
              <a:t>maruf</a:t>
            </a:r>
            <a:endParaRPr lang="it-IT" sz="1800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12C6557-3D8D-6527-CD0F-DA9509D9D557}"/>
              </a:ext>
            </a:extLst>
          </p:cNvPr>
          <p:cNvSpPr txBox="1"/>
          <p:nvPr/>
        </p:nvSpPr>
        <p:spPr>
          <a:xfrm>
            <a:off x="5218837" y="1992997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  <a:p>
            <a:r>
              <a:rPr lang="it-IT" dirty="0"/>
              <a:t>🥳🥳🏓</a:t>
            </a:r>
          </a:p>
        </p:txBody>
      </p:sp>
    </p:spTree>
    <p:extLst>
      <p:ext uri="{BB962C8B-B14F-4D97-AF65-F5344CB8AC3E}">
        <p14:creationId xmlns:p14="http://schemas.microsoft.com/office/powerpoint/2010/main" val="2430767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F3FF8D-6C9A-A133-75FE-F6FC0946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Architecture design</a:t>
            </a:r>
          </a:p>
        </p:txBody>
      </p:sp>
      <p:pic>
        <p:nvPicPr>
          <p:cNvPr id="5" name="Segnaposto contenuto 4" descr="Immagine che contiene testo, diagramma, Piano, linea&#10;&#10;Il contenuto generato dall'IA potrebbe non essere corretto.">
            <a:extLst>
              <a:ext uri="{FF2B5EF4-FFF2-40B4-BE49-F238E27FC236}">
                <a16:creationId xmlns:a16="http://schemas.microsoft.com/office/drawing/2014/main" id="{4404D62C-F028-D6FF-6A4D-E3CF04EF5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8166"/>
            <a:ext cx="8885383" cy="49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12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B032EB-3B40-67F3-220F-772924EF4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RabbitMQ</a:t>
            </a:r>
            <a:r>
              <a:rPr lang="it-IT" dirty="0"/>
              <a:t> 🐇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67370-24E6-8CED-8173-58CDE3AAB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To </a:t>
            </a:r>
            <a:r>
              <a:rPr lang="it-IT" dirty="0" err="1"/>
              <a:t>fulfill</a:t>
            </a:r>
            <a:r>
              <a:rPr lang="it-IT" dirty="0"/>
              <a:t> the </a:t>
            </a:r>
            <a:r>
              <a:rPr lang="it-IT" dirty="0" err="1"/>
              <a:t>requirements</a:t>
            </a:r>
            <a:r>
              <a:rPr lang="it-IT" dirty="0"/>
              <a:t> of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employed</a:t>
            </a:r>
            <a:r>
              <a:rPr lang="it-IT" dirty="0"/>
              <a:t> a </a:t>
            </a:r>
            <a:r>
              <a:rPr lang="it-IT" dirty="0" err="1"/>
              <a:t>publish</a:t>
            </a:r>
            <a:r>
              <a:rPr lang="it-IT" dirty="0"/>
              <a:t>/</a:t>
            </a:r>
            <a:r>
              <a:rPr lang="it-IT" dirty="0" err="1"/>
              <a:t>subscribe</a:t>
            </a:r>
            <a:r>
              <a:rPr lang="it-IT" dirty="0"/>
              <a:t> </a:t>
            </a:r>
            <a:r>
              <a:rPr lang="it-IT" dirty="0" err="1"/>
              <a:t>mechanism</a:t>
            </a:r>
            <a:r>
              <a:rPr lang="it-IT" dirty="0"/>
              <a:t>. </a:t>
            </a:r>
            <a:r>
              <a:rPr lang="it-IT" dirty="0" err="1"/>
              <a:t>Namely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exchanges</a:t>
            </a:r>
            <a:r>
              <a:rPr lang="it-IT" dirty="0"/>
              <a:t>: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 err="1"/>
              <a:t>Unnormalized</a:t>
            </a:r>
            <a:r>
              <a:rPr lang="it-IT" dirty="0"/>
              <a:t>: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queues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exchange</a:t>
            </a:r>
            <a:r>
              <a:rPr lang="it-IT" dirty="0"/>
              <a:t> are </a:t>
            </a:r>
            <a:r>
              <a:rPr lang="it-IT" dirty="0" err="1"/>
              <a:t>filled</a:t>
            </a:r>
            <a:r>
              <a:rPr lang="it-IT" dirty="0"/>
              <a:t> with data </a:t>
            </a:r>
            <a:r>
              <a:rPr lang="it-IT" dirty="0" err="1"/>
              <a:t>pushed</a:t>
            </a:r>
            <a:r>
              <a:rPr lang="it-IT" dirty="0"/>
              <a:t> by the </a:t>
            </a:r>
            <a:r>
              <a:rPr lang="it-IT" dirty="0" err="1"/>
              <a:t>injectors</a:t>
            </a:r>
            <a:r>
              <a:rPr lang="it-IT" dirty="0"/>
              <a:t> to the </a:t>
            </a:r>
            <a:r>
              <a:rPr lang="it-IT" dirty="0" err="1"/>
              <a:t>normalizer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Normalized</a:t>
            </a:r>
            <a:r>
              <a:rPr lang="it-IT" dirty="0"/>
              <a:t>: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exchange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 the </a:t>
            </a:r>
            <a:r>
              <a:rPr lang="it-IT" dirty="0" err="1"/>
              <a:t>result</a:t>
            </a:r>
            <a:r>
              <a:rPr lang="it-IT" dirty="0"/>
              <a:t> of </a:t>
            </a:r>
            <a:r>
              <a:rPr lang="it-IT" dirty="0" err="1"/>
              <a:t>normalization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stored</a:t>
            </a:r>
            <a:r>
              <a:rPr lang="it-IT" dirty="0"/>
              <a:t>, to be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later</a:t>
            </a:r>
            <a:r>
              <a:rPr lang="it-IT" dirty="0"/>
              <a:t> down in the pipeline</a:t>
            </a:r>
          </a:p>
        </p:txBody>
      </p:sp>
    </p:spTree>
    <p:extLst>
      <p:ext uri="{BB962C8B-B14F-4D97-AF65-F5344CB8AC3E}">
        <p14:creationId xmlns:p14="http://schemas.microsoft.com/office/powerpoint/2010/main" val="3752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08D0E5-7538-316C-F38E-3E2840FE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Injectors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7A7CC7-3DB0-6C14-1D47-A93F90DB2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err="1"/>
              <a:t>There</a:t>
            </a:r>
            <a:r>
              <a:rPr lang="it-IT" dirty="0"/>
              <a:t> are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injectors</a:t>
            </a:r>
            <a:r>
              <a:rPr lang="it-IT" dirty="0"/>
              <a:t>: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Sensor-</a:t>
            </a:r>
            <a:r>
              <a:rPr lang="it-IT" dirty="0" err="1"/>
              <a:t>poller</a:t>
            </a:r>
            <a:r>
              <a:rPr lang="it-IT" dirty="0"/>
              <a:t>: via </a:t>
            </a:r>
            <a:r>
              <a:rPr lang="it-IT" dirty="0" err="1"/>
              <a:t>rest</a:t>
            </a:r>
            <a:r>
              <a:rPr lang="it-IT" dirty="0"/>
              <a:t> API </a:t>
            </a:r>
            <a:r>
              <a:rPr lang="it-IT" dirty="0" err="1"/>
              <a:t>acquires</a:t>
            </a:r>
            <a:r>
              <a:rPr lang="it-IT" dirty="0"/>
              <a:t> data from </a:t>
            </a:r>
            <a:r>
              <a:rPr lang="it-IT" dirty="0" err="1"/>
              <a:t>sensors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dirty="0" err="1"/>
              <a:t>telemetry-poller</a:t>
            </a:r>
            <a:r>
              <a:rPr lang="it-IT" dirty="0"/>
              <a:t>: via </a:t>
            </a:r>
            <a:r>
              <a:rPr lang="it-IT" dirty="0" err="1"/>
              <a:t>WebSocket</a:t>
            </a:r>
            <a:r>
              <a:rPr lang="it-IT" dirty="0"/>
              <a:t> </a:t>
            </a:r>
            <a:r>
              <a:rPr lang="it-IT" dirty="0" err="1"/>
              <a:t>recieves</a:t>
            </a:r>
            <a:r>
              <a:rPr lang="it-IT" dirty="0"/>
              <a:t> data from </a:t>
            </a:r>
            <a:r>
              <a:rPr lang="it-IT" dirty="0" err="1"/>
              <a:t>telemetry</a:t>
            </a:r>
            <a:r>
              <a:rPr lang="it-IT" dirty="0"/>
              <a:t>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 err="1"/>
              <a:t>Both</a:t>
            </a:r>
            <a:r>
              <a:rPr lang="it-IT" dirty="0"/>
              <a:t> of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push</a:t>
            </a:r>
            <a:r>
              <a:rPr lang="it-IT" dirty="0"/>
              <a:t> the data to the </a:t>
            </a:r>
            <a:r>
              <a:rPr lang="it-IT" dirty="0" err="1"/>
              <a:t>unnormalized</a:t>
            </a:r>
            <a:r>
              <a:rPr lang="it-IT" dirty="0"/>
              <a:t> </a:t>
            </a:r>
            <a:r>
              <a:rPr lang="it-IT" dirty="0" err="1"/>
              <a:t>exchange</a:t>
            </a:r>
            <a:r>
              <a:rPr lang="it-IT" dirty="0"/>
              <a:t>. </a:t>
            </a:r>
            <a:r>
              <a:rPr lang="it-IT" dirty="0" err="1"/>
              <a:t>Furthermore</a:t>
            </a:r>
            <a:r>
              <a:rPr lang="it-IT" dirty="0"/>
              <a:t> data schema </a:t>
            </a:r>
            <a:r>
              <a:rPr lang="it-IT" dirty="0" err="1"/>
              <a:t>validation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ensured</a:t>
            </a:r>
            <a:r>
              <a:rPr lang="it-IT" dirty="0"/>
              <a:t> with </a:t>
            </a:r>
            <a:r>
              <a:rPr lang="it-IT" dirty="0" err="1"/>
              <a:t>pydantic</a:t>
            </a:r>
            <a:r>
              <a:rPr lang="it-IT" dirty="0"/>
              <a:t> </a:t>
            </a:r>
            <a:r>
              <a:rPr lang="it-IT" dirty="0" err="1"/>
              <a:t>BaseModel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6245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4049A0-91C5-CD02-D2BD-67A7E486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Normalizer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B7A392-DFB0-CABF-E142-6299C5F3D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microservice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 </a:t>
            </a:r>
            <a:r>
              <a:rPr lang="it-IT" dirty="0" err="1"/>
              <a:t>unifying</a:t>
            </a:r>
            <a:r>
              <a:rPr lang="it-IT" dirty="0"/>
              <a:t> the </a:t>
            </a:r>
            <a:r>
              <a:rPr lang="it-IT" dirty="0" err="1"/>
              <a:t>etherogeneous</a:t>
            </a:r>
            <a:r>
              <a:rPr lang="it-IT" dirty="0"/>
              <a:t> data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unified</a:t>
            </a:r>
            <a:r>
              <a:rPr lang="it-IT" dirty="0"/>
              <a:t> </a:t>
            </a:r>
            <a:r>
              <a:rPr lang="it-IT" dirty="0" err="1"/>
              <a:t>internal</a:t>
            </a:r>
            <a:r>
              <a:rPr lang="it-IT" dirty="0"/>
              <a:t> schema.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An </a:t>
            </a:r>
            <a:r>
              <a:rPr lang="it-IT" dirty="0" err="1"/>
              <a:t>attempt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made to use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schema, to </a:t>
            </a:r>
            <a:r>
              <a:rPr lang="it-IT" dirty="0" err="1"/>
              <a:t>distinguish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sensors</a:t>
            </a:r>
            <a:r>
              <a:rPr lang="it-IT" dirty="0"/>
              <a:t> and </a:t>
            </a:r>
            <a:r>
              <a:rPr lang="it-IT" dirty="0" err="1"/>
              <a:t>telemetry</a:t>
            </a:r>
            <a:r>
              <a:rPr lang="it-IT" dirty="0"/>
              <a:t>, to reduce the overhead of </a:t>
            </a:r>
            <a:r>
              <a:rPr lang="it-IT" dirty="0" err="1"/>
              <a:t>representing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once,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telemetry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far </a:t>
            </a:r>
            <a:r>
              <a:rPr lang="it-IT" dirty="0" err="1"/>
              <a:t>less</a:t>
            </a:r>
            <a:r>
              <a:rPr lang="it-IT" dirty="0"/>
              <a:t> </a:t>
            </a:r>
            <a:r>
              <a:rPr lang="it-IT" dirty="0" err="1"/>
              <a:t>frequent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sensor</a:t>
            </a:r>
            <a:r>
              <a:rPr lang="it-IT" dirty="0"/>
              <a:t> data.</a:t>
            </a:r>
          </a:p>
          <a:p>
            <a:pPr marL="0" indent="0">
              <a:buNone/>
            </a:pPr>
            <a:r>
              <a:rPr lang="it-IT" dirty="0" err="1"/>
              <a:t>Ultimately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managed</a:t>
            </a:r>
            <a:r>
              <a:rPr lang="it-IT" dirty="0"/>
              <a:t> to </a:t>
            </a:r>
            <a:r>
              <a:rPr lang="it-IT" dirty="0" err="1"/>
              <a:t>represent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streams in a </a:t>
            </a:r>
            <a:r>
              <a:rPr lang="it-IT" dirty="0" err="1"/>
              <a:t>unified</a:t>
            </a:r>
            <a:r>
              <a:rPr lang="it-IT" dirty="0"/>
              <a:t> </a:t>
            </a:r>
            <a:r>
              <a:rPr lang="it-IT" dirty="0" err="1"/>
              <a:t>manner</a:t>
            </a:r>
            <a:r>
              <a:rPr lang="it-IT" dirty="0"/>
              <a:t>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9281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4FDE12-3162-26AE-CCAC-ED5D87062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Backend</a:t>
            </a:r>
            <a:r>
              <a:rPr lang="it-IT" dirty="0"/>
              <a:t> and </a:t>
            </a:r>
            <a:r>
              <a:rPr lang="it-IT" dirty="0" err="1"/>
              <a:t>Frontend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FC2A81-B4CC-2C7B-23A0-241984C92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For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microservices</a:t>
            </a:r>
            <a:r>
              <a:rPr lang="it-IT" dirty="0"/>
              <a:t>, </a:t>
            </a:r>
            <a:r>
              <a:rPr lang="it-IT" dirty="0" err="1"/>
              <a:t>communication</a:t>
            </a:r>
            <a:r>
              <a:rPr lang="it-IT" dirty="0"/>
              <a:t>-wise,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opted</a:t>
            </a:r>
            <a:r>
              <a:rPr lang="it-IT" dirty="0"/>
              <a:t> for a </a:t>
            </a:r>
            <a:r>
              <a:rPr lang="it-IT" dirty="0" err="1"/>
              <a:t>websocket</a:t>
            </a:r>
            <a:r>
              <a:rPr lang="it-IT" dirty="0"/>
              <a:t> </a:t>
            </a:r>
            <a:r>
              <a:rPr lang="it-IT" dirty="0" err="1"/>
              <a:t>paradigm</a:t>
            </a:r>
            <a:r>
              <a:rPr lang="it-IT" dirty="0"/>
              <a:t>, </a:t>
            </a:r>
            <a:r>
              <a:rPr lang="it-IT" dirty="0" err="1"/>
              <a:t>because</a:t>
            </a:r>
            <a:r>
              <a:rPr lang="it-IT" dirty="0"/>
              <a:t>: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header</a:t>
            </a:r>
            <a:r>
              <a:rPr lang="it-IT" dirty="0"/>
              <a:t> size </a:t>
            </a:r>
            <a:r>
              <a:rPr lang="it-IT" dirty="0" err="1"/>
              <a:t>is</a:t>
            </a:r>
            <a:r>
              <a:rPr lang="it-IT" dirty="0"/>
              <a:t> way </a:t>
            </a:r>
            <a:r>
              <a:rPr lang="it-IT" dirty="0" err="1"/>
              <a:t>smaller</a:t>
            </a:r>
            <a:endParaRPr lang="it-IT" dirty="0"/>
          </a:p>
          <a:p>
            <a:r>
              <a:rPr lang="it-IT" dirty="0"/>
              <a:t>The connection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persistent</a:t>
            </a:r>
            <a:r>
              <a:rPr lang="it-IT" dirty="0"/>
              <a:t> and full-duplex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 </a:t>
            </a:r>
            <a:r>
              <a:rPr lang="it-IT" dirty="0" err="1"/>
              <a:t>fit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low </a:t>
            </a:r>
            <a:r>
              <a:rPr lang="it-IT" dirty="0" err="1"/>
              <a:t>latency</a:t>
            </a:r>
            <a:r>
              <a:rPr lang="it-IT" dirty="0"/>
              <a:t> </a:t>
            </a:r>
            <a:r>
              <a:rPr lang="it-IT" dirty="0" err="1"/>
              <a:t>requirements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05236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1A690E-90FC-4D93-7D7A-FB56F820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 </a:t>
            </a:r>
            <a:r>
              <a:rPr lang="it-IT" dirty="0" err="1"/>
              <a:t>automation</a:t>
            </a:r>
            <a:r>
              <a:rPr lang="it-IT" dirty="0"/>
              <a:t> </a:t>
            </a:r>
            <a:r>
              <a:rPr lang="it-IT" dirty="0" err="1"/>
              <a:t>engine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634DB0-BDB7-A432-2CBA-94B82F905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Exactly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frontend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gathers</a:t>
            </a:r>
            <a:r>
              <a:rPr lang="it-IT" dirty="0"/>
              <a:t> the </a:t>
            </a:r>
            <a:r>
              <a:rPr lang="it-IT" dirty="0" err="1"/>
              <a:t>normalized</a:t>
            </a:r>
            <a:r>
              <a:rPr lang="it-IT" dirty="0"/>
              <a:t> data via </a:t>
            </a:r>
            <a:r>
              <a:rPr lang="it-IT" dirty="0" err="1"/>
              <a:t>websocket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to compare </a:t>
            </a:r>
            <a:r>
              <a:rPr lang="it-IT" dirty="0" err="1"/>
              <a:t>against</a:t>
            </a:r>
            <a:r>
              <a:rPr lang="it-IT" dirty="0"/>
              <a:t> the rules </a:t>
            </a:r>
            <a:r>
              <a:rPr lang="it-IT" dirty="0" err="1"/>
              <a:t>stored</a:t>
            </a:r>
            <a:r>
              <a:rPr lang="it-IT" dirty="0"/>
              <a:t> in the database, </a:t>
            </a:r>
            <a:r>
              <a:rPr lang="it-IT" dirty="0" err="1"/>
              <a:t>taking</a:t>
            </a:r>
            <a:r>
              <a:rPr lang="it-IT" dirty="0"/>
              <a:t> action </a:t>
            </a:r>
            <a:r>
              <a:rPr lang="it-IT" dirty="0" err="1"/>
              <a:t>upon</a:t>
            </a:r>
            <a:r>
              <a:rPr lang="it-IT" dirty="0"/>
              <a:t> </a:t>
            </a:r>
            <a:r>
              <a:rPr lang="it-IT" dirty="0" err="1"/>
              <a:t>verifying</a:t>
            </a:r>
            <a:r>
              <a:rPr lang="it-IT" dirty="0"/>
              <a:t> the </a:t>
            </a:r>
            <a:r>
              <a:rPr lang="it-IT" dirty="0" err="1"/>
              <a:t>conditions</a:t>
            </a:r>
            <a:r>
              <a:rPr lang="it-IT" dirty="0"/>
              <a:t>, by </a:t>
            </a:r>
            <a:r>
              <a:rPr lang="it-IT" dirty="0" err="1"/>
              <a:t>performing</a:t>
            </a:r>
            <a:r>
              <a:rPr lang="it-IT" dirty="0"/>
              <a:t> a post </a:t>
            </a:r>
            <a:r>
              <a:rPr lang="it-IT" dirty="0" err="1"/>
              <a:t>request</a:t>
            </a:r>
            <a:r>
              <a:rPr lang="it-IT" dirty="0"/>
              <a:t> to the simulator.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concerns</a:t>
            </a:r>
            <a:r>
              <a:rPr lang="it-IT" dirty="0"/>
              <a:t> the database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chose</a:t>
            </a:r>
            <a:r>
              <a:rPr lang="it-IT" dirty="0"/>
              <a:t> </a:t>
            </a:r>
            <a:r>
              <a:rPr lang="it-IT" dirty="0" err="1"/>
              <a:t>SQLite</a:t>
            </a:r>
            <a:r>
              <a:rPr lang="it-IT" dirty="0"/>
              <a:t> </a:t>
            </a:r>
            <a:r>
              <a:rPr lang="it-IT" dirty="0" err="1"/>
              <a:t>since</a:t>
            </a:r>
            <a:r>
              <a:rPr lang="it-IT" dirty="0"/>
              <a:t> the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requires</a:t>
            </a:r>
            <a:r>
              <a:rPr lang="it-IT" dirty="0"/>
              <a:t> just one </a:t>
            </a:r>
            <a:r>
              <a:rPr lang="it-IT" dirty="0" err="1"/>
              <a:t>table</a:t>
            </a:r>
            <a:r>
              <a:rPr lang="it-IT" dirty="0"/>
              <a:t> </a:t>
            </a:r>
            <a:r>
              <a:rPr lang="it-IT" dirty="0" err="1"/>
              <a:t>whose</a:t>
            </a:r>
            <a:r>
              <a:rPr lang="it-IT" dirty="0"/>
              <a:t> </a:t>
            </a:r>
            <a:r>
              <a:rPr lang="it-IT" dirty="0" err="1"/>
              <a:t>cardinality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exceed</a:t>
            </a:r>
            <a:r>
              <a:rPr lang="it-IT" dirty="0"/>
              <a:t> </a:t>
            </a:r>
            <a:r>
              <a:rPr lang="it-IT" dirty="0" err="1"/>
              <a:t>thousands</a:t>
            </a:r>
            <a:r>
              <a:rPr lang="it-IT" dirty="0"/>
              <a:t> of </a:t>
            </a:r>
            <a:r>
              <a:rPr lang="it-IT" dirty="0" err="1"/>
              <a:t>rows</a:t>
            </a:r>
            <a:r>
              <a:rPr lang="it-IT" dirty="0"/>
              <a:t>. In </a:t>
            </a:r>
            <a:r>
              <a:rPr lang="it-IT" dirty="0" err="1"/>
              <a:t>addition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perform</a:t>
            </a:r>
            <a:r>
              <a:rPr lang="it-IT" dirty="0"/>
              <a:t> </a:t>
            </a:r>
            <a:r>
              <a:rPr lang="it-IT" dirty="0" err="1"/>
              <a:t>lots</a:t>
            </a:r>
            <a:r>
              <a:rPr lang="it-IT" dirty="0"/>
              <a:t> of </a:t>
            </a:r>
            <a:r>
              <a:rPr lang="it-IT" dirty="0" err="1"/>
              <a:t>writes</a:t>
            </a:r>
            <a:r>
              <a:rPr lang="it-IT" dirty="0"/>
              <a:t>, </a:t>
            </a:r>
            <a:r>
              <a:rPr lang="it-IT" dirty="0" err="1"/>
              <a:t>especially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in a </a:t>
            </a:r>
            <a:r>
              <a:rPr lang="it-IT" dirty="0" err="1"/>
              <a:t>concurrent</a:t>
            </a:r>
            <a:r>
              <a:rPr lang="it-IT" dirty="0"/>
              <a:t> </a:t>
            </a:r>
            <a:r>
              <a:rPr lang="it-IT" dirty="0" err="1"/>
              <a:t>manner</a:t>
            </a:r>
            <a:r>
              <a:rPr lang="it-IT" dirty="0"/>
              <a:t>, </a:t>
            </a:r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are alone on </a:t>
            </a:r>
            <a:r>
              <a:rPr lang="it-IT" dirty="0" err="1"/>
              <a:t>mars</a:t>
            </a:r>
            <a:r>
              <a:rPr lang="it-IT" dirty="0"/>
              <a:t>.</a:t>
            </a:r>
          </a:p>
          <a:p>
            <a:pPr marL="0" indent="0">
              <a:buNone/>
            </a:pPr>
            <a:r>
              <a:rPr lang="it-IT" dirty="0"/>
              <a:t>Given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properties</a:t>
            </a:r>
            <a:r>
              <a:rPr lang="it-IT" dirty="0"/>
              <a:t> </a:t>
            </a:r>
            <a:r>
              <a:rPr lang="it-IT" dirty="0" err="1"/>
              <a:t>SQLite</a:t>
            </a:r>
            <a:r>
              <a:rPr lang="it-IT" dirty="0"/>
              <a:t> </a:t>
            </a:r>
            <a:r>
              <a:rPr lang="it-IT" dirty="0" err="1"/>
              <a:t>seemed</a:t>
            </a:r>
            <a:r>
              <a:rPr lang="it-IT" dirty="0"/>
              <a:t> a </a:t>
            </a:r>
            <a:r>
              <a:rPr lang="it-IT" dirty="0" err="1"/>
              <a:t>perfect</a:t>
            </a:r>
            <a:r>
              <a:rPr lang="it-IT" dirty="0"/>
              <a:t> </a:t>
            </a:r>
            <a:r>
              <a:rPr lang="it-IT" dirty="0" err="1"/>
              <a:t>fit</a:t>
            </a:r>
            <a:r>
              <a:rPr lang="it-IT" dirty="0"/>
              <a:t> for </a:t>
            </a:r>
            <a:r>
              <a:rPr lang="it-IT" dirty="0" err="1"/>
              <a:t>our</a:t>
            </a:r>
            <a:r>
              <a:rPr lang="it-IT" dirty="0"/>
              <a:t> system.</a:t>
            </a:r>
          </a:p>
        </p:txBody>
      </p:sp>
    </p:spTree>
    <p:extLst>
      <p:ext uri="{BB962C8B-B14F-4D97-AF65-F5344CB8AC3E}">
        <p14:creationId xmlns:p14="http://schemas.microsoft.com/office/powerpoint/2010/main" val="903257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3B82A-DBE7-1BA0-6ED4-5763496A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70" y="2843281"/>
            <a:ext cx="10515600" cy="1325563"/>
          </a:xfrm>
        </p:spPr>
        <p:txBody>
          <a:bodyPr/>
          <a:lstStyle/>
          <a:p>
            <a:r>
              <a:rPr lang="it-IT"/>
              <a:t>USER STORIES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03289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719D3-5AE4-B9A3-60E0-D11242F3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Latest</a:t>
            </a:r>
            <a:r>
              <a:rPr lang="it-IT" dirty="0"/>
              <a:t> Data</a:t>
            </a:r>
          </a:p>
        </p:txBody>
      </p:sp>
      <p:pic>
        <p:nvPicPr>
          <p:cNvPr id="5" name="Segnaposto contenuto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AB6FF9F4-B309-A29D-CC0E-F90C11F87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173" y="2976771"/>
            <a:ext cx="7416800" cy="35814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CF920D3-5201-DC63-4A4F-BC1787073425}"/>
              </a:ext>
            </a:extLst>
          </p:cNvPr>
          <p:cNvSpPr txBox="1"/>
          <p:nvPr/>
        </p:nvSpPr>
        <p:spPr>
          <a:xfrm>
            <a:off x="977347" y="1684540"/>
            <a:ext cx="103764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</a:t>
            </a:r>
            <a:r>
              <a:rPr lang="it-IT" sz="2800" dirty="0" err="1"/>
              <a:t>visualize</a:t>
            </a:r>
            <a:r>
              <a:rPr lang="it-IT" sz="2800" dirty="0"/>
              <a:t> the </a:t>
            </a:r>
            <a:r>
              <a:rPr lang="it-IT" sz="2800" dirty="0" err="1"/>
              <a:t>latest</a:t>
            </a:r>
            <a:r>
              <a:rPr lang="it-IT" sz="2800" dirty="0"/>
              <a:t> data </a:t>
            </a:r>
            <a:r>
              <a:rPr lang="it-IT" sz="2800" dirty="0" err="1"/>
              <a:t>reported</a:t>
            </a:r>
            <a:r>
              <a:rPr lang="it-IT" sz="2800" dirty="0"/>
              <a:t> by </a:t>
            </a:r>
            <a:r>
              <a:rPr lang="it-IT" sz="2800" dirty="0" err="1"/>
              <a:t>each</a:t>
            </a:r>
            <a:r>
              <a:rPr lang="it-IT" sz="2800" dirty="0"/>
              <a:t> </a:t>
            </a:r>
            <a:r>
              <a:rPr lang="it-IT" sz="2800" dirty="0" err="1"/>
              <a:t>sensor</a:t>
            </a:r>
            <a:r>
              <a:rPr lang="it-IT" sz="2800" dirty="0"/>
              <a:t>.</a:t>
            </a:r>
          </a:p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19675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BE740F-3DC5-DF66-E688-DDE3C19A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Historical</a:t>
            </a:r>
            <a:r>
              <a:rPr lang="it-IT" dirty="0"/>
              <a:t> </a:t>
            </a:r>
            <a:r>
              <a:rPr lang="it-IT" dirty="0" err="1"/>
              <a:t>values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FC6A49E-B434-9530-268B-208184FCEEEA}"/>
              </a:ext>
            </a:extLst>
          </p:cNvPr>
          <p:cNvSpPr txBox="1"/>
          <p:nvPr/>
        </p:nvSpPr>
        <p:spPr>
          <a:xfrm>
            <a:off x="6692348" y="1717192"/>
            <a:ext cx="54598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</a:t>
            </a:r>
            <a:r>
              <a:rPr lang="it-IT" sz="2800" dirty="0" err="1"/>
              <a:t>visualize</a:t>
            </a:r>
            <a:r>
              <a:rPr lang="it-IT" sz="2800" dirty="0"/>
              <a:t> the </a:t>
            </a:r>
            <a:r>
              <a:rPr lang="it-IT" sz="2800" dirty="0" err="1"/>
              <a:t>historical</a:t>
            </a:r>
            <a:r>
              <a:rPr lang="it-IT" sz="2800" dirty="0"/>
              <a:t> </a:t>
            </a:r>
            <a:r>
              <a:rPr lang="it-IT" sz="2800" dirty="0" err="1"/>
              <a:t>values</a:t>
            </a:r>
            <a:r>
              <a:rPr lang="it-IT" sz="2800" dirty="0"/>
              <a:t> for </a:t>
            </a:r>
            <a:r>
              <a:rPr lang="it-IT" sz="2800" dirty="0" err="1"/>
              <a:t>each</a:t>
            </a:r>
            <a:r>
              <a:rPr lang="it-IT" sz="2800" dirty="0"/>
              <a:t> </a:t>
            </a:r>
            <a:r>
              <a:rPr lang="it-IT" sz="2800" dirty="0" err="1"/>
              <a:t>sensor</a:t>
            </a:r>
            <a:r>
              <a:rPr lang="it-IT" sz="2800" dirty="0"/>
              <a:t>, so </a:t>
            </a:r>
            <a:r>
              <a:rPr lang="it-IT" sz="2800" dirty="0" err="1"/>
              <a:t>that</a:t>
            </a:r>
            <a:r>
              <a:rPr lang="it-IT" sz="2800" dirty="0"/>
              <a:t> I can </a:t>
            </a:r>
            <a:r>
              <a:rPr lang="it-IT" sz="2800" dirty="0" err="1"/>
              <a:t>see</a:t>
            </a:r>
            <a:r>
              <a:rPr lang="it-IT" sz="2800" dirty="0"/>
              <a:t> the </a:t>
            </a:r>
            <a:r>
              <a:rPr lang="it-IT" sz="2800" dirty="0" err="1"/>
              <a:t>evolution</a:t>
            </a:r>
            <a:r>
              <a:rPr lang="it-IT" sz="2800" dirty="0"/>
              <a:t> of the situation over time.</a:t>
            </a:r>
            <a:br>
              <a:rPr lang="it-IT" sz="2800" dirty="0"/>
            </a:br>
            <a:endParaRPr lang="it-IT" sz="2800" dirty="0"/>
          </a:p>
        </p:txBody>
      </p:sp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3B2FA3B7-9519-07C0-8411-6EAE2C9FC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5637"/>
            <a:ext cx="5575853" cy="527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97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AEF5D4-B625-A934-1C91-E629F563C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Manual </a:t>
            </a:r>
            <a:r>
              <a:rPr lang="it-IT" dirty="0" err="1"/>
              <a:t>actuators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3FE0390-6144-9572-055F-E939BD564671}"/>
              </a:ext>
            </a:extLst>
          </p:cNvPr>
          <p:cNvSpPr txBox="1"/>
          <p:nvPr/>
        </p:nvSpPr>
        <p:spPr>
          <a:xfrm>
            <a:off x="185531" y="1830314"/>
            <a:ext cx="9819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</a:t>
            </a:r>
            <a:r>
              <a:rPr lang="it-IT" sz="2800" dirty="0" err="1"/>
              <a:t>manually</a:t>
            </a:r>
            <a:r>
              <a:rPr lang="it-IT" sz="2800" dirty="0"/>
              <a:t> trigger </a:t>
            </a:r>
            <a:r>
              <a:rPr lang="it-IT" sz="2800" dirty="0" err="1"/>
              <a:t>actuators</a:t>
            </a:r>
            <a:r>
              <a:rPr lang="it-IT" sz="2800" dirty="0"/>
              <a:t>, so </a:t>
            </a:r>
            <a:r>
              <a:rPr lang="it-IT" sz="2800" dirty="0" err="1"/>
              <a:t>that</a:t>
            </a:r>
            <a:r>
              <a:rPr lang="it-IT" sz="2800" dirty="0"/>
              <a:t> I can take action in </a:t>
            </a:r>
            <a:r>
              <a:rPr lang="it-IT" sz="2800" dirty="0" err="1"/>
              <a:t>emergency</a:t>
            </a:r>
            <a:r>
              <a:rPr lang="it-IT" sz="2800" dirty="0"/>
              <a:t> situations.</a:t>
            </a:r>
          </a:p>
        </p:txBody>
      </p:sp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33D18346-4C4D-1F63-35AE-058E81AE5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10" y="3316081"/>
            <a:ext cx="6540500" cy="24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22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49B72C-5B4B-20AB-C2CE-B471F433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 </a:t>
            </a:r>
            <a:r>
              <a:rPr lang="it-IT" dirty="0" err="1"/>
              <a:t>creation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D58FE4B-1CEE-9649-59CE-E14062A8CC65}"/>
              </a:ext>
            </a:extLst>
          </p:cNvPr>
          <p:cNvSpPr txBox="1"/>
          <p:nvPr/>
        </p:nvSpPr>
        <p:spPr>
          <a:xfrm>
            <a:off x="5579165" y="1698350"/>
            <a:ext cx="56354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</a:t>
            </a:r>
            <a:r>
              <a:rPr lang="it-IT" sz="2800" dirty="0" err="1"/>
              <a:t>specify</a:t>
            </a:r>
            <a:r>
              <a:rPr lang="it-IT" sz="2800" dirty="0"/>
              <a:t> rules </a:t>
            </a:r>
            <a:r>
              <a:rPr lang="it-IT" sz="2800" dirty="0" err="1"/>
              <a:t>based</a:t>
            </a:r>
            <a:r>
              <a:rPr lang="it-IT" sz="2800" dirty="0"/>
              <a:t> on </a:t>
            </a:r>
            <a:r>
              <a:rPr lang="it-IT" sz="2800" dirty="0" err="1"/>
              <a:t>values</a:t>
            </a:r>
            <a:r>
              <a:rPr lang="it-IT" sz="2800" dirty="0"/>
              <a:t> </a:t>
            </a:r>
            <a:r>
              <a:rPr lang="it-IT" sz="2800" dirty="0" err="1"/>
              <a:t>reported</a:t>
            </a:r>
            <a:r>
              <a:rPr lang="it-IT" sz="2800" dirty="0"/>
              <a:t> by the </a:t>
            </a:r>
            <a:r>
              <a:rPr lang="it-IT" sz="2800" dirty="0" err="1"/>
              <a:t>sensor</a:t>
            </a:r>
            <a:r>
              <a:rPr lang="it-IT" sz="2800" dirty="0"/>
              <a:t> and take action </a:t>
            </a:r>
            <a:r>
              <a:rPr lang="it-IT" sz="2800" dirty="0" err="1"/>
              <a:t>through</a:t>
            </a:r>
            <a:r>
              <a:rPr lang="it-IT" sz="2800" dirty="0"/>
              <a:t> the </a:t>
            </a:r>
            <a:r>
              <a:rPr lang="it-IT" sz="2800" dirty="0" err="1"/>
              <a:t>actuators</a:t>
            </a:r>
            <a:r>
              <a:rPr lang="it-IT" sz="2800" dirty="0"/>
              <a:t>, so </a:t>
            </a:r>
            <a:r>
              <a:rPr lang="it-IT" sz="2800" dirty="0" err="1"/>
              <a:t>that</a:t>
            </a:r>
            <a:r>
              <a:rPr lang="it-IT" sz="2800" dirty="0"/>
              <a:t> i can </a:t>
            </a:r>
            <a:r>
              <a:rPr lang="it-IT" sz="2800" dirty="0" err="1"/>
              <a:t>automate</a:t>
            </a:r>
            <a:r>
              <a:rPr lang="it-IT" sz="2800" dirty="0"/>
              <a:t> </a:t>
            </a:r>
            <a:r>
              <a:rPr lang="it-IT" sz="2800" dirty="0" err="1"/>
              <a:t>my</a:t>
            </a:r>
            <a:r>
              <a:rPr lang="it-IT" sz="2800" dirty="0"/>
              <a:t> work.</a:t>
            </a:r>
          </a:p>
        </p:txBody>
      </p:sp>
      <p:pic>
        <p:nvPicPr>
          <p:cNvPr id="5" name="Immagine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9A789914-24E4-9C48-B166-1D59BD674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91" b="17147"/>
          <a:stretch>
            <a:fillRect/>
          </a:stretch>
        </p:blipFill>
        <p:spPr>
          <a:xfrm>
            <a:off x="0" y="1363041"/>
            <a:ext cx="5142947" cy="535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920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5CDC75-6055-B705-F3A7-BB85D297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Delete rules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AA9CC4C-54F3-B38B-AB4E-08F0423EA902}"/>
              </a:ext>
            </a:extLst>
          </p:cNvPr>
          <p:cNvSpPr txBox="1"/>
          <p:nvPr/>
        </p:nvSpPr>
        <p:spPr>
          <a:xfrm>
            <a:off x="838200" y="1698350"/>
            <a:ext cx="4714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delete </a:t>
            </a:r>
            <a:r>
              <a:rPr lang="it-IT" sz="2800" dirty="0" err="1"/>
              <a:t>previously</a:t>
            </a:r>
            <a:r>
              <a:rPr lang="it-IT" sz="2800" dirty="0"/>
              <a:t> </a:t>
            </a:r>
            <a:r>
              <a:rPr lang="it-IT" sz="2800" dirty="0" err="1"/>
              <a:t>specified</a:t>
            </a:r>
            <a:r>
              <a:rPr lang="it-IT" sz="2800" dirty="0"/>
              <a:t> rules.</a:t>
            </a: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B0D9C6F-D0BE-BE25-1BDD-9AA140DB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887" y="393700"/>
            <a:ext cx="5283200" cy="64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66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96A194-D37E-3D13-71CA-0905322C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Toggle</a:t>
            </a:r>
            <a:r>
              <a:rPr lang="it-IT" dirty="0"/>
              <a:t> rule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392FF9-93D5-B2F0-FB53-BCFBCC38B85B}"/>
              </a:ext>
            </a:extLst>
          </p:cNvPr>
          <p:cNvSpPr txBox="1"/>
          <p:nvPr/>
        </p:nvSpPr>
        <p:spPr>
          <a:xfrm>
            <a:off x="6308035" y="1698350"/>
            <a:ext cx="49066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</a:t>
            </a:r>
            <a:r>
              <a:rPr lang="it-IT" sz="2800" dirty="0" err="1"/>
              <a:t>temporarily</a:t>
            </a:r>
            <a:r>
              <a:rPr lang="it-IT" sz="2800" dirty="0"/>
              <a:t> </a:t>
            </a:r>
            <a:r>
              <a:rPr lang="it-IT" sz="2800" dirty="0" err="1"/>
              <a:t>toggle</a:t>
            </a:r>
            <a:r>
              <a:rPr lang="it-IT" sz="2800" dirty="0"/>
              <a:t> a rule, so </a:t>
            </a:r>
            <a:r>
              <a:rPr lang="it-IT" sz="2800" dirty="0" err="1"/>
              <a:t>that</a:t>
            </a:r>
            <a:r>
              <a:rPr lang="it-IT" sz="2800" dirty="0"/>
              <a:t> I can </a:t>
            </a:r>
            <a:r>
              <a:rPr lang="it-IT" sz="2800" dirty="0" err="1"/>
              <a:t>perform</a:t>
            </a:r>
            <a:r>
              <a:rPr lang="it-IT" sz="2800" dirty="0"/>
              <a:t> </a:t>
            </a:r>
            <a:r>
              <a:rPr lang="it-IT" sz="2800" dirty="0" err="1"/>
              <a:t>maintenance</a:t>
            </a:r>
            <a:r>
              <a:rPr lang="it-IT" sz="2800" dirty="0"/>
              <a:t>.</a:t>
            </a:r>
          </a:p>
        </p:txBody>
      </p:sp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109D0BA1-F4A3-2768-FE47-A83C3EFA88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353"/>
          <a:stretch>
            <a:fillRect/>
          </a:stretch>
        </p:blipFill>
        <p:spPr>
          <a:xfrm>
            <a:off x="838200" y="1416050"/>
            <a:ext cx="4572000" cy="534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49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C0E703-3787-F462-9273-B3125D2F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Rule </a:t>
            </a:r>
            <a:r>
              <a:rPr lang="it-IT" dirty="0" err="1"/>
              <a:t>activation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F3E4A33-9497-903D-8340-6DDFE25873C6}"/>
              </a:ext>
            </a:extLst>
          </p:cNvPr>
          <p:cNvSpPr txBox="1"/>
          <p:nvPr/>
        </p:nvSpPr>
        <p:spPr>
          <a:xfrm>
            <a:off x="838200" y="1698350"/>
            <a:ext cx="103764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the system </a:t>
            </a:r>
            <a:r>
              <a:rPr lang="it-IT" sz="2800" dirty="0" err="1"/>
              <a:t>identify</a:t>
            </a:r>
            <a:r>
              <a:rPr lang="it-IT" sz="2800" dirty="0"/>
              <a:t> </a:t>
            </a:r>
            <a:r>
              <a:rPr lang="it-IT" sz="2800" dirty="0" err="1"/>
              <a:t>which</a:t>
            </a:r>
            <a:r>
              <a:rPr lang="it-IT" sz="2800" dirty="0"/>
              <a:t> rule </a:t>
            </a:r>
            <a:r>
              <a:rPr lang="it-IT" sz="2800" dirty="0" err="1"/>
              <a:t>activated</a:t>
            </a:r>
            <a:r>
              <a:rPr lang="it-IT" sz="2800" dirty="0"/>
              <a:t> an </a:t>
            </a:r>
            <a:r>
              <a:rPr lang="it-IT" sz="2800" dirty="0" err="1"/>
              <a:t>actuator</a:t>
            </a:r>
            <a:r>
              <a:rPr lang="it-IT" sz="2800" dirty="0"/>
              <a:t>, so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everything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transparent</a:t>
            </a:r>
            <a:r>
              <a:rPr lang="it-IT" sz="2800" dirty="0"/>
              <a:t>.</a:t>
            </a: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5B2FECF-7F63-99C9-0AAF-64FD732E4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327" y="2983947"/>
            <a:ext cx="3274115" cy="325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161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B6D2E0-74F3-6005-29E0-F8FF2C6A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Naming rules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3D4EF5-E9D1-F5DE-283D-5C950CFC70B5}"/>
              </a:ext>
            </a:extLst>
          </p:cNvPr>
          <p:cNvSpPr txBox="1"/>
          <p:nvPr/>
        </p:nvSpPr>
        <p:spPr>
          <a:xfrm>
            <a:off x="838201" y="1698350"/>
            <a:ext cx="44759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</a:t>
            </a:r>
            <a:r>
              <a:rPr lang="it-IT" sz="2800" dirty="0" err="1"/>
              <a:t>give</a:t>
            </a:r>
            <a:r>
              <a:rPr lang="it-IT" sz="2800" dirty="0"/>
              <a:t> names to rules, so </a:t>
            </a:r>
            <a:r>
              <a:rPr lang="it-IT" sz="2800" dirty="0" err="1"/>
              <a:t>that</a:t>
            </a:r>
            <a:r>
              <a:rPr lang="it-IT" sz="2800" dirty="0"/>
              <a:t> I can </a:t>
            </a:r>
            <a:r>
              <a:rPr lang="it-IT" sz="2800" dirty="0" err="1"/>
              <a:t>easily</a:t>
            </a:r>
            <a:r>
              <a:rPr lang="it-IT" sz="2800" dirty="0"/>
              <a:t> </a:t>
            </a:r>
            <a:r>
              <a:rPr lang="it-IT" sz="2800" dirty="0" err="1"/>
              <a:t>identify</a:t>
            </a:r>
            <a:r>
              <a:rPr lang="it-IT" sz="2800" dirty="0"/>
              <a:t> rules.</a:t>
            </a:r>
          </a:p>
        </p:txBody>
      </p:sp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F8EEE9FF-1431-F48E-DBD6-650CA2989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70" y="196850"/>
            <a:ext cx="5575300" cy="64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37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261B82-25AB-EF7D-918A-E45FCA09C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865"/>
            <a:ext cx="10515600" cy="1325563"/>
          </a:xfrm>
        </p:spPr>
        <p:txBody>
          <a:bodyPr/>
          <a:lstStyle/>
          <a:p>
            <a:r>
              <a:rPr lang="it-IT" dirty="0"/>
              <a:t>Rule editing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40DBAEE-6D74-0575-942B-CF400DC9F07D}"/>
              </a:ext>
            </a:extLst>
          </p:cNvPr>
          <p:cNvSpPr txBox="1"/>
          <p:nvPr/>
        </p:nvSpPr>
        <p:spPr>
          <a:xfrm>
            <a:off x="5658678" y="1698350"/>
            <a:ext cx="5555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</a:t>
            </a:r>
            <a:r>
              <a:rPr lang="it-IT" sz="2800" dirty="0" err="1"/>
              <a:t>edit</a:t>
            </a:r>
            <a:r>
              <a:rPr lang="it-IT" sz="2800" dirty="0"/>
              <a:t> a rule.</a:t>
            </a:r>
          </a:p>
        </p:txBody>
      </p:sp>
      <p:pic>
        <p:nvPicPr>
          <p:cNvPr id="8" name="Immagine 7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5A5C753E-58C5-2BF1-FA64-FEB0CA63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585"/>
          <a:stretch>
            <a:fillRect/>
          </a:stretch>
        </p:blipFill>
        <p:spPr>
          <a:xfrm>
            <a:off x="724452" y="1336537"/>
            <a:ext cx="4673600" cy="552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47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21059C-8A3E-9F18-70A5-E1FED333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Overall state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CA73EE-4A5A-FF48-E9D0-B2C4A24BBDF2}"/>
              </a:ext>
            </a:extLst>
          </p:cNvPr>
          <p:cNvSpPr txBox="1"/>
          <p:nvPr/>
        </p:nvSpPr>
        <p:spPr>
          <a:xfrm>
            <a:off x="838200" y="1698350"/>
            <a:ext cx="1037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</a:t>
            </a:r>
            <a:r>
              <a:rPr lang="it-IT" sz="2800" dirty="0" err="1"/>
              <a:t>see</a:t>
            </a:r>
            <a:r>
              <a:rPr lang="it-IT" sz="2800" dirty="0"/>
              <a:t> </a:t>
            </a:r>
            <a:r>
              <a:rPr lang="it-IT" sz="2800" dirty="0" err="1"/>
              <a:t>at</a:t>
            </a:r>
            <a:r>
              <a:rPr lang="it-IT" sz="2800" dirty="0"/>
              <a:t> a </a:t>
            </a:r>
            <a:r>
              <a:rPr lang="it-IT" sz="2800" dirty="0" err="1"/>
              <a:t>glance</a:t>
            </a:r>
            <a:r>
              <a:rPr lang="it-IT" sz="2800" dirty="0"/>
              <a:t> the overall health of the system.</a:t>
            </a:r>
          </a:p>
        </p:txBody>
      </p:sp>
      <p:pic>
        <p:nvPicPr>
          <p:cNvPr id="7" name="Immagine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582EAB7-E184-7D81-71A1-2D284A113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254" y="3127098"/>
            <a:ext cx="74549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97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DDF39D-969D-EE6A-03D1-BE730495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Polling rate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AB6410-BE6A-91BE-3BEE-E3AA02045C99}"/>
              </a:ext>
            </a:extLst>
          </p:cNvPr>
          <p:cNvSpPr txBox="1"/>
          <p:nvPr/>
        </p:nvSpPr>
        <p:spPr>
          <a:xfrm>
            <a:off x="838200" y="1698350"/>
            <a:ext cx="103764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control the polling rate of the data from the </a:t>
            </a:r>
            <a:r>
              <a:rPr lang="it-IT" sz="2800" dirty="0" err="1"/>
              <a:t>sensors</a:t>
            </a:r>
            <a:r>
              <a:rPr lang="it-IT" sz="2800" dirty="0"/>
              <a:t>, so </a:t>
            </a:r>
            <a:r>
              <a:rPr lang="it-IT" sz="2800" dirty="0" err="1"/>
              <a:t>that</a:t>
            </a:r>
            <a:r>
              <a:rPr lang="it-IT" sz="2800" dirty="0"/>
              <a:t> I can reduce the power </a:t>
            </a:r>
            <a:r>
              <a:rPr lang="it-IT" sz="2800" dirty="0" err="1"/>
              <a:t>consumption</a:t>
            </a:r>
            <a:r>
              <a:rPr lang="it-IT" sz="2800" dirty="0"/>
              <a:t> of the system.</a:t>
            </a:r>
          </a:p>
        </p:txBody>
      </p:sp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5D043768-869B-E48F-B0AC-CA2BF17BF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303" y="3429000"/>
            <a:ext cx="5244549" cy="190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68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CF34D9-3270-8397-D6F9-27527726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Trend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C902CBF-AC4A-40A7-B12B-07DA4B687D94}"/>
              </a:ext>
            </a:extLst>
          </p:cNvPr>
          <p:cNvSpPr txBox="1"/>
          <p:nvPr/>
        </p:nvSpPr>
        <p:spPr>
          <a:xfrm>
            <a:off x="838200" y="1698350"/>
            <a:ext cx="103764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</a:t>
            </a:r>
            <a:r>
              <a:rPr lang="it-IT" sz="2800" dirty="0" err="1"/>
              <a:t>quickly</a:t>
            </a:r>
            <a:r>
              <a:rPr lang="it-IT" sz="2800" dirty="0"/>
              <a:t> </a:t>
            </a:r>
            <a:r>
              <a:rPr lang="it-IT" sz="2800" dirty="0" err="1"/>
              <a:t>see</a:t>
            </a:r>
            <a:r>
              <a:rPr lang="it-IT" sz="2800" dirty="0"/>
              <a:t> the trend of </a:t>
            </a:r>
            <a:r>
              <a:rPr lang="it-IT" sz="2800" dirty="0" err="1"/>
              <a:t>sensed</a:t>
            </a:r>
            <a:r>
              <a:rPr lang="it-IT" sz="2800" dirty="0"/>
              <a:t> data, so </a:t>
            </a:r>
            <a:r>
              <a:rPr lang="it-IT" sz="2800" dirty="0" err="1"/>
              <a:t>that</a:t>
            </a:r>
            <a:r>
              <a:rPr lang="it-IT" sz="2800" dirty="0"/>
              <a:t> I can </a:t>
            </a:r>
            <a:r>
              <a:rPr lang="it-IT" sz="2800" dirty="0" err="1"/>
              <a:t>quickly</a:t>
            </a:r>
            <a:r>
              <a:rPr lang="it-IT" sz="2800" dirty="0"/>
              <a:t> monitor the situation.</a:t>
            </a:r>
          </a:p>
        </p:txBody>
      </p:sp>
      <p:pic>
        <p:nvPicPr>
          <p:cNvPr id="6" name="Immagine 5" descr="Immagine che contiene testo, schermata, linea, Carattere&#10;&#10;Il contenuto generato dall'IA potrebbe non essere corretto.">
            <a:extLst>
              <a:ext uri="{FF2B5EF4-FFF2-40B4-BE49-F238E27FC236}">
                <a16:creationId xmlns:a16="http://schemas.microsoft.com/office/drawing/2014/main" id="{6B3B0B01-5DA1-508F-925B-5A51B865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215" y="3132393"/>
            <a:ext cx="5921064" cy="271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72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7BC9E1-B69A-F50E-6950-37CF5CD7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Deleting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rules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B5202D-8703-C957-7406-DABEE121F182}"/>
              </a:ext>
            </a:extLst>
          </p:cNvPr>
          <p:cNvSpPr txBox="1"/>
          <p:nvPr/>
        </p:nvSpPr>
        <p:spPr>
          <a:xfrm>
            <a:off x="838200" y="1698350"/>
            <a:ext cx="41181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</a:t>
            </a:r>
            <a:r>
              <a:rPr lang="it-IT" sz="2800" dirty="0" err="1"/>
              <a:t>remove</a:t>
            </a:r>
            <a:r>
              <a:rPr lang="it-IT" sz="2800" dirty="0"/>
              <a:t> </a:t>
            </a:r>
            <a:r>
              <a:rPr lang="it-IT" sz="2800" dirty="0" err="1"/>
              <a:t>all</a:t>
            </a:r>
            <a:r>
              <a:rPr lang="it-IT" sz="2800" dirty="0"/>
              <a:t> rules </a:t>
            </a:r>
            <a:r>
              <a:rPr lang="it-IT" sz="2800" dirty="0" err="1"/>
              <a:t>at</a:t>
            </a:r>
            <a:r>
              <a:rPr lang="it-IT" sz="2800" dirty="0"/>
              <a:t> once.</a:t>
            </a:r>
          </a:p>
        </p:txBody>
      </p:sp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59E78EC5-F174-7E19-342F-E51A6712D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6850"/>
            <a:ext cx="4991100" cy="64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56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4F5AD6-B491-A17D-0354-047309331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Suspend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rules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FFE9C64-BF21-4B35-2809-AD3524D6DA46}"/>
              </a:ext>
            </a:extLst>
          </p:cNvPr>
          <p:cNvSpPr txBox="1"/>
          <p:nvPr/>
        </p:nvSpPr>
        <p:spPr>
          <a:xfrm>
            <a:off x="838200" y="1698350"/>
            <a:ext cx="5801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</a:t>
            </a:r>
            <a:r>
              <a:rPr lang="it-IT" sz="2800" dirty="0" err="1"/>
              <a:t>enable</a:t>
            </a:r>
            <a:r>
              <a:rPr lang="it-IT" sz="2800" dirty="0"/>
              <a:t>/</a:t>
            </a:r>
            <a:r>
              <a:rPr lang="it-IT" sz="2800" dirty="0" err="1"/>
              <a:t>disable</a:t>
            </a:r>
            <a:r>
              <a:rPr lang="it-IT" sz="2800" dirty="0"/>
              <a:t> </a:t>
            </a:r>
            <a:r>
              <a:rPr lang="it-IT" sz="2800" dirty="0" err="1"/>
              <a:t>all</a:t>
            </a:r>
            <a:r>
              <a:rPr lang="it-IT" sz="2800" dirty="0"/>
              <a:t> rules </a:t>
            </a:r>
            <a:r>
              <a:rPr lang="it-IT" sz="2800" dirty="0" err="1"/>
              <a:t>at</a:t>
            </a:r>
            <a:r>
              <a:rPr lang="it-IT" sz="2800" dirty="0"/>
              <a:t> once.</a:t>
            </a: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28EFA5D4-B1B6-6EC8-5BE0-5140932CB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837" y="196850"/>
            <a:ext cx="4457700" cy="64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49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F82C27-97A2-0785-C71D-5BC04AE2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Sensor status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F3BA1BD-CA70-0A56-D522-732B936701BF}"/>
              </a:ext>
            </a:extLst>
          </p:cNvPr>
          <p:cNvSpPr txBox="1"/>
          <p:nvPr/>
        </p:nvSpPr>
        <p:spPr>
          <a:xfrm>
            <a:off x="838200" y="1698350"/>
            <a:ext cx="10376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As</a:t>
            </a:r>
            <a:r>
              <a:rPr lang="it-IT" sz="2800" dirty="0"/>
              <a:t> a user, I </a:t>
            </a:r>
            <a:r>
              <a:rPr lang="it-IT" sz="2800" dirty="0" err="1"/>
              <a:t>want</a:t>
            </a:r>
            <a:r>
              <a:rPr lang="it-IT" sz="2800" dirty="0"/>
              <a:t> to be </a:t>
            </a:r>
            <a:r>
              <a:rPr lang="it-IT" sz="2800" dirty="0" err="1"/>
              <a:t>able</a:t>
            </a:r>
            <a:r>
              <a:rPr lang="it-IT" sz="2800" dirty="0"/>
              <a:t> to </a:t>
            </a:r>
            <a:r>
              <a:rPr lang="it-IT" sz="2800" dirty="0" err="1"/>
              <a:t>see</a:t>
            </a:r>
            <a:r>
              <a:rPr lang="it-IT" sz="2800" dirty="0"/>
              <a:t> the status of </a:t>
            </a:r>
            <a:r>
              <a:rPr lang="it-IT" sz="2800" dirty="0" err="1"/>
              <a:t>each</a:t>
            </a:r>
            <a:r>
              <a:rPr lang="it-IT" sz="2800" dirty="0"/>
              <a:t> </a:t>
            </a:r>
            <a:r>
              <a:rPr lang="it-IT" sz="2800" dirty="0" err="1"/>
              <a:t>sensor</a:t>
            </a:r>
            <a:r>
              <a:rPr lang="it-IT" sz="2800" dirty="0"/>
              <a:t>.</a:t>
            </a:r>
          </a:p>
        </p:txBody>
      </p:sp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36043FD9-EE56-EE19-16A6-D1DAC8B0F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843" y="2783508"/>
            <a:ext cx="5334002" cy="275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209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689</Words>
  <Application>Microsoft Macintosh PowerPoint</Application>
  <PresentationFormat>Widescreen</PresentationFormat>
  <Paragraphs>70</Paragraphs>
  <Slides>23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Tema di Office</vt:lpstr>
      <vt:lpstr>PLAN(ET) MARS</vt:lpstr>
      <vt:lpstr>Architecture design</vt:lpstr>
      <vt:lpstr>RabbitMQ 🐇</vt:lpstr>
      <vt:lpstr>Injectors</vt:lpstr>
      <vt:lpstr>Normalizer</vt:lpstr>
      <vt:lpstr>Backend and Frontend</vt:lpstr>
      <vt:lpstr>Rule automation engine</vt:lpstr>
      <vt:lpstr>USER STORIES</vt:lpstr>
      <vt:lpstr>Latest Data</vt:lpstr>
      <vt:lpstr>Historical values</vt:lpstr>
      <vt:lpstr>Manual actuators</vt:lpstr>
      <vt:lpstr>Rule creation</vt:lpstr>
      <vt:lpstr>Delete rules</vt:lpstr>
      <vt:lpstr>Toggle rule</vt:lpstr>
      <vt:lpstr>Rule activation</vt:lpstr>
      <vt:lpstr>Naming rules</vt:lpstr>
      <vt:lpstr>Rule editing</vt:lpstr>
      <vt:lpstr>Overall state</vt:lpstr>
      <vt:lpstr>Polling rate</vt:lpstr>
      <vt:lpstr>Trend </vt:lpstr>
      <vt:lpstr>Deleting all rules</vt:lpstr>
      <vt:lpstr>Suspend all rules</vt:lpstr>
      <vt:lpstr>Sensor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Piccolino</dc:creator>
  <cp:lastModifiedBy>Alessandro Piccolino</cp:lastModifiedBy>
  <cp:revision>1</cp:revision>
  <dcterms:created xsi:type="dcterms:W3CDTF">2026-03-09T16:15:00Z</dcterms:created>
  <dcterms:modified xsi:type="dcterms:W3CDTF">2026-03-09T17:57:00Z</dcterms:modified>
</cp:coreProperties>
</file>