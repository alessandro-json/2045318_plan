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7" r:id="rId1"/>
  </p:sldMasterIdLst>
  <p:notesMasterIdLst>
    <p:notesMasterId r:id="rId26"/>
  </p:notesMasterIdLst>
  <p:sldIdLst>
    <p:sldId id="256" r:id="rId2"/>
    <p:sldId id="301" r:id="rId3"/>
    <p:sldId id="303" r:id="rId4"/>
    <p:sldId id="304" r:id="rId5"/>
    <p:sldId id="258" r:id="rId6"/>
    <p:sldId id="307" r:id="rId7"/>
    <p:sldId id="266" r:id="rId8"/>
    <p:sldId id="306" r:id="rId9"/>
    <p:sldId id="326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FFFF2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0CC6D5-B55B-494A-ACA1-B183999FF7D0}">
  <a:tblStyle styleId="{080CC6D5-B55B-494A-ACA1-B183999FF7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29D348A5-3855-B9B2-9568-CA258593C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613d517d8_0_63:notes">
            <a:extLst>
              <a:ext uri="{FF2B5EF4-FFF2-40B4-BE49-F238E27FC236}">
                <a16:creationId xmlns:a16="http://schemas.microsoft.com/office/drawing/2014/main" id="{7D7BD3E5-2A55-7C47-955B-E7280E54DB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1613d517d8_0_63:notes">
            <a:extLst>
              <a:ext uri="{FF2B5EF4-FFF2-40B4-BE49-F238E27FC236}">
                <a16:creationId xmlns:a16="http://schemas.microsoft.com/office/drawing/2014/main" id="{3DC035E0-25D3-36B8-10FA-5951524DA5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4327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1613d517d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1613d517d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0E6836D2-54DF-D7F1-7C0B-ACD0D254B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1613d517d8_0_157:notes">
            <a:extLst>
              <a:ext uri="{FF2B5EF4-FFF2-40B4-BE49-F238E27FC236}">
                <a16:creationId xmlns:a16="http://schemas.microsoft.com/office/drawing/2014/main" id="{947623C8-2495-7005-EB58-4378300CAA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1613d517d8_0_157:notes">
            <a:extLst>
              <a:ext uri="{FF2B5EF4-FFF2-40B4-BE49-F238E27FC236}">
                <a16:creationId xmlns:a16="http://schemas.microsoft.com/office/drawing/2014/main" id="{C1B17CED-02B8-E1B7-452F-75FA3E080E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6517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1613d517d8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1613d517d8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469528DF-4797-3C6D-C3E1-EC6378C89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1613d517d8_0_44:notes">
            <a:extLst>
              <a:ext uri="{FF2B5EF4-FFF2-40B4-BE49-F238E27FC236}">
                <a16:creationId xmlns:a16="http://schemas.microsoft.com/office/drawing/2014/main" id="{3DC368AE-4520-094B-3AD4-BF2E729FF8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1613d517d8_0_44:notes">
            <a:extLst>
              <a:ext uri="{FF2B5EF4-FFF2-40B4-BE49-F238E27FC236}">
                <a16:creationId xmlns:a16="http://schemas.microsoft.com/office/drawing/2014/main" id="{33EE8C33-1B29-9408-DDF5-4EC8CABDE4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433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21800" y="1006350"/>
            <a:ext cx="51375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21800" y="3366913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15100" y="3063675"/>
            <a:ext cx="4926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536700" y="2027625"/>
            <a:ext cx="1283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998150" y="3905475"/>
            <a:ext cx="4360200" cy="4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048550"/>
            <a:ext cx="7704000" cy="3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2248800" y="1105500"/>
            <a:ext cx="4646400" cy="18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3001600" y="1381638"/>
            <a:ext cx="542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3766300" y="2223449"/>
            <a:ext cx="4662600" cy="15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719988" y="1632725"/>
            <a:ext cx="3416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title" idx="2" hasCustomPrompt="1"/>
          </p:nvPr>
        </p:nvSpPr>
        <p:spPr>
          <a:xfrm>
            <a:off x="810048" y="1222300"/>
            <a:ext cx="786600" cy="3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" name="Google Shape;43;p13"/>
          <p:cNvSpPr txBox="1">
            <a:spLocks noGrp="1"/>
          </p:cNvSpPr>
          <p:nvPr>
            <p:ph type="subTitle" idx="1"/>
          </p:nvPr>
        </p:nvSpPr>
        <p:spPr>
          <a:xfrm>
            <a:off x="719988" y="2084225"/>
            <a:ext cx="2270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title" idx="3"/>
          </p:nvPr>
        </p:nvSpPr>
        <p:spPr>
          <a:xfrm>
            <a:off x="4558018" y="1632725"/>
            <a:ext cx="3416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title" idx="4" hasCustomPrompt="1"/>
          </p:nvPr>
        </p:nvSpPr>
        <p:spPr>
          <a:xfrm>
            <a:off x="4693048" y="1222300"/>
            <a:ext cx="726600" cy="3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>
            <a:spLocks noGrp="1"/>
          </p:cNvSpPr>
          <p:nvPr>
            <p:ph type="subTitle" idx="5"/>
          </p:nvPr>
        </p:nvSpPr>
        <p:spPr>
          <a:xfrm>
            <a:off x="4558018" y="2084225"/>
            <a:ext cx="2270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6"/>
          </p:nvPr>
        </p:nvSpPr>
        <p:spPr>
          <a:xfrm>
            <a:off x="719988" y="3532175"/>
            <a:ext cx="3416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7" hasCustomPrompt="1"/>
          </p:nvPr>
        </p:nvSpPr>
        <p:spPr>
          <a:xfrm>
            <a:off x="855023" y="3121700"/>
            <a:ext cx="726600" cy="3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8"/>
          </p:nvPr>
        </p:nvSpPr>
        <p:spPr>
          <a:xfrm>
            <a:off x="719988" y="3983675"/>
            <a:ext cx="2270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9"/>
          </p:nvPr>
        </p:nvSpPr>
        <p:spPr>
          <a:xfrm>
            <a:off x="4558018" y="3532175"/>
            <a:ext cx="3416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 idx="13" hasCustomPrompt="1"/>
          </p:nvPr>
        </p:nvSpPr>
        <p:spPr>
          <a:xfrm>
            <a:off x="4693049" y="3121700"/>
            <a:ext cx="726600" cy="3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4"/>
          </p:nvPr>
        </p:nvSpPr>
        <p:spPr>
          <a:xfrm>
            <a:off x="4558018" y="3983675"/>
            <a:ext cx="2270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usso One"/>
              <a:buNone/>
              <a:defRPr sz="30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●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■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●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■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●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Overpass"/>
              <a:buChar char="■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5" r:id="rId5"/>
    <p:sldLayoutId id="2147483658" r:id="rId6"/>
    <p:sldLayoutId id="2147483659" r:id="rId7"/>
    <p:sldLayoutId id="2147483666" r:id="rId8"/>
    <p:sldLayoutId id="2147483672" r:id="rId9"/>
    <p:sldLayoutId id="2147483673" r:id="rId10"/>
    <p:sldLayoutId id="2147483674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2"/>
          <p:cNvPicPr preferRelativeResize="0"/>
          <p:nvPr/>
        </p:nvPicPr>
        <p:blipFill rotWithShape="1">
          <a:blip r:embed="rId4">
            <a:alphaModFix/>
          </a:blip>
          <a:srcRect b="29839"/>
          <a:stretch/>
        </p:blipFill>
        <p:spPr>
          <a:xfrm>
            <a:off x="6604900" y="-27775"/>
            <a:ext cx="2388624" cy="3394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2"/>
          <p:cNvPicPr preferRelativeResize="0"/>
          <p:nvPr/>
        </p:nvPicPr>
        <p:blipFill rotWithShape="1">
          <a:blip r:embed="rId5">
            <a:alphaModFix/>
          </a:blip>
          <a:srcRect t="29169" b="21834"/>
          <a:stretch/>
        </p:blipFill>
        <p:spPr>
          <a:xfrm>
            <a:off x="6604900" y="1256237"/>
            <a:ext cx="2539101" cy="2520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9764" y="1597150"/>
            <a:ext cx="1711874" cy="347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32"/>
          <p:cNvPicPr preferRelativeResize="0"/>
          <p:nvPr/>
        </p:nvPicPr>
        <p:blipFill rotWithShape="1">
          <a:blip r:embed="rId7">
            <a:alphaModFix/>
          </a:blip>
          <a:srcRect t="14782" b="12723"/>
          <a:stretch/>
        </p:blipFill>
        <p:spPr>
          <a:xfrm>
            <a:off x="6027937" y="1542950"/>
            <a:ext cx="1796775" cy="26412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2"/>
          <p:cNvSpPr txBox="1">
            <a:spLocks noGrp="1"/>
          </p:cNvSpPr>
          <p:nvPr>
            <p:ph type="ctrTitle"/>
          </p:nvPr>
        </p:nvSpPr>
        <p:spPr>
          <a:xfrm>
            <a:off x="821800" y="1006350"/>
            <a:ext cx="51375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PLAN(ET) MARS</a:t>
            </a:r>
            <a:endParaRPr b="1" dirty="0"/>
          </a:p>
        </p:txBody>
      </p:sp>
      <p:sp>
        <p:nvSpPr>
          <p:cNvPr id="135" name="Google Shape;135;p32"/>
          <p:cNvSpPr txBox="1">
            <a:spLocks noGrp="1"/>
          </p:cNvSpPr>
          <p:nvPr>
            <p:ph type="subTitle" idx="1"/>
          </p:nvPr>
        </p:nvSpPr>
        <p:spPr>
          <a:xfrm>
            <a:off x="821800" y="2516325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Monitoring System</a:t>
            </a:r>
            <a:endParaRPr sz="2000" b="1" dirty="0"/>
          </a:p>
        </p:txBody>
      </p:sp>
      <p:pic>
        <p:nvPicPr>
          <p:cNvPr id="136" name="Google Shape;136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81569" y="4315301"/>
            <a:ext cx="2282025" cy="151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88456" y="3822776"/>
            <a:ext cx="2282025" cy="15176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5;p32">
            <a:extLst>
              <a:ext uri="{FF2B5EF4-FFF2-40B4-BE49-F238E27FC236}">
                <a16:creationId xmlns:a16="http://schemas.microsoft.com/office/drawing/2014/main" id="{F25C97D2-5EC8-0232-6A31-23DECD1669F9}"/>
              </a:ext>
            </a:extLst>
          </p:cNvPr>
          <p:cNvSpPr txBox="1">
            <a:spLocks/>
          </p:cNvSpPr>
          <p:nvPr/>
        </p:nvSpPr>
        <p:spPr>
          <a:xfrm>
            <a:off x="821800" y="2960850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6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pPr marL="0" indent="0"/>
            <a:r>
              <a:rPr lang="it-IT" dirty="0" err="1"/>
              <a:t>Please</a:t>
            </a:r>
            <a:r>
              <a:rPr lang="it-IT" dirty="0"/>
              <a:t> </a:t>
            </a:r>
            <a:r>
              <a:rPr lang="it-IT" dirty="0" err="1"/>
              <a:t>don’t</a:t>
            </a:r>
            <a:r>
              <a:rPr lang="it-IT" dirty="0"/>
              <a:t> die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C52C4CC2-E52C-8D1A-1519-85CB7456D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>
            <a:extLst>
              <a:ext uri="{FF2B5EF4-FFF2-40B4-BE49-F238E27FC236}">
                <a16:creationId xmlns:a16="http://schemas.microsoft.com/office/drawing/2014/main" id="{8101382C-4F60-8F70-2890-9342AC333B22}"/>
              </a:ext>
            </a:extLst>
          </p:cNvPr>
          <p:cNvSpPr/>
          <p:nvPr/>
        </p:nvSpPr>
        <p:spPr>
          <a:xfrm>
            <a:off x="2399512" y="2338299"/>
            <a:ext cx="1506000" cy="1010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30D6A8A1-7733-909B-E709-F09FE7BCCF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099" y="3348399"/>
            <a:ext cx="622862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Architecture Design</a:t>
            </a:r>
            <a:endParaRPr dirty="0"/>
          </a:p>
        </p:txBody>
      </p:sp>
      <p:sp>
        <p:nvSpPr>
          <p:cNvPr id="181" name="Google Shape;181;p36">
            <a:extLst>
              <a:ext uri="{FF2B5EF4-FFF2-40B4-BE49-F238E27FC236}">
                <a16:creationId xmlns:a16="http://schemas.microsoft.com/office/drawing/2014/main" id="{90D30705-FDD6-3E18-6745-09B2504D032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536700" y="2399101"/>
            <a:ext cx="1283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182" name="Google Shape;182;p36">
            <a:extLst>
              <a:ext uri="{FF2B5EF4-FFF2-40B4-BE49-F238E27FC236}">
                <a16:creationId xmlns:a16="http://schemas.microsoft.com/office/drawing/2014/main" id="{DE61D0BF-DDC8-1799-9173-4C7584A8D8C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7850" y="-90850"/>
            <a:ext cx="4558500" cy="35145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6625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AF6260A-742F-032A-4011-7AFBEFCB9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02" y="200299"/>
            <a:ext cx="8526966" cy="476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65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2BE51-A63C-CD4C-CD85-F7D9B3440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noProof="0" dirty="0">
                <a:solidFill>
                  <a:schemeClr val="bg1"/>
                </a:solidFill>
                <a:latin typeface="Aptos Display" panose="020B0004020202020204" pitchFamily="34" charset="0"/>
              </a:rPr>
              <a:t>RabbitMQ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EBDBC-DB7C-0C3D-2369-8C512E4EE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119990"/>
            <a:ext cx="8082029" cy="3520200"/>
          </a:xfrm>
        </p:spPr>
        <p:txBody>
          <a:bodyPr/>
          <a:lstStyle/>
          <a:p>
            <a:pPr marL="0" indent="0">
              <a:buNone/>
            </a:pP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To fulfill the requirements of our application we employed a </a:t>
            </a:r>
            <a:r>
              <a:rPr lang="en-US" sz="2200" b="1" noProof="0" dirty="0">
                <a:latin typeface="Aptos" panose="020B0004020202020204" pitchFamily="34" charset="0"/>
                <a:cs typeface="Aparajita" panose="020B0502040204020203" pitchFamily="18" charset="0"/>
              </a:rPr>
              <a:t>publish/subscribe </a:t>
            </a: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mechanism. Namely we created two </a:t>
            </a:r>
            <a:r>
              <a:rPr lang="en-US" sz="2200" b="1" noProof="0" dirty="0">
                <a:latin typeface="Aptos" panose="020B0004020202020204" pitchFamily="34" charset="0"/>
                <a:cs typeface="Aparajita" panose="020B0502040204020203" pitchFamily="18" charset="0"/>
              </a:rPr>
              <a:t>exchanges</a:t>
            </a: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noProof="0" dirty="0">
              <a:latin typeface="Aptos" panose="020B0004020202020204" pitchFamily="34" charset="0"/>
              <a:cs typeface="Aparajita" panose="020B0502040204020203" pitchFamily="18" charset="0"/>
            </a:endParaRP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2200" b="1" noProof="0" dirty="0">
                <a:solidFill>
                  <a:srgbClr val="FFFF66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Unnormalized</a:t>
            </a: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: all the queues within this exchange are filled with data pushed by the injectors to the normalizer</a:t>
            </a:r>
          </a:p>
          <a:p>
            <a:pPr marL="152400" indent="0">
              <a:buNone/>
            </a:pPr>
            <a:endParaRPr lang="en-US" sz="2200" noProof="0" dirty="0">
              <a:latin typeface="Aptos" panose="020B0004020202020204" pitchFamily="34" charset="0"/>
              <a:cs typeface="Aparajita" panose="020B0502040204020203" pitchFamily="18" charset="0"/>
            </a:endParaRP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2200" b="1" noProof="0" dirty="0">
                <a:solidFill>
                  <a:srgbClr val="FFFF66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Normalized</a:t>
            </a: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: this exchange is where the result of normalization is stored, to be used later down in the pipeline</a:t>
            </a:r>
          </a:p>
          <a:p>
            <a:pPr marL="152400" indent="0">
              <a:buNone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9239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4"/>
          <p:cNvPicPr preferRelativeResize="0"/>
          <p:nvPr/>
        </p:nvPicPr>
        <p:blipFill rotWithShape="1">
          <a:blip r:embed="rId4">
            <a:alphaModFix/>
          </a:blip>
          <a:srcRect l="13758" r="13758"/>
          <a:stretch/>
        </p:blipFill>
        <p:spPr>
          <a:xfrm>
            <a:off x="7629350" y="469250"/>
            <a:ext cx="1022924" cy="244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365894" y="935301"/>
            <a:ext cx="2282025" cy="151762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6C5CA3D1-5520-6360-BB3C-5D4F90A92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620" y="466288"/>
            <a:ext cx="7704000" cy="572700"/>
          </a:xfrm>
        </p:spPr>
        <p:txBody>
          <a:bodyPr/>
          <a:lstStyle/>
          <a:p>
            <a:r>
              <a:rPr lang="en" sz="4000" b="1" noProof="0" dirty="0">
                <a:latin typeface="Aptos Display" panose="020B0004020202020204" pitchFamily="34" charset="0"/>
              </a:rPr>
              <a:t>Injectors</a:t>
            </a:r>
            <a:endParaRPr lang="en" sz="3200" b="1" noProof="0" dirty="0">
              <a:latin typeface="Aptos Display" panose="020B0004020202020204" pitchFamily="34" charset="0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D070B89-4909-B0F0-1E0B-F72C65173101}"/>
              </a:ext>
            </a:extLst>
          </p:cNvPr>
          <p:cNvSpPr txBox="1">
            <a:spLocks/>
          </p:cNvSpPr>
          <p:nvPr/>
        </p:nvSpPr>
        <p:spPr>
          <a:xfrm>
            <a:off x="491727" y="1038987"/>
            <a:ext cx="6909350" cy="4001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pPr marL="0" indent="0"/>
            <a:r>
              <a:rPr lang="en" sz="2200" dirty="0">
                <a:latin typeface="Aptos" panose="020B0004020202020204" pitchFamily="34" charset="0"/>
                <a:cs typeface="Aparajita" panose="020B0502040204020203" pitchFamily="18" charset="0"/>
              </a:rPr>
              <a:t>There are two types of injectors:</a:t>
            </a:r>
          </a:p>
          <a:p>
            <a:pPr marL="0" indent="0"/>
            <a:endParaRPr lang="en" sz="2200" dirty="0">
              <a:latin typeface="Aptos" panose="020B0004020202020204" pitchFamily="34" charset="0"/>
              <a:cs typeface="Aparajita" panose="020B0502040204020203" pitchFamily="18" charset="0"/>
            </a:endParaRP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" sz="2200" b="1" dirty="0">
                <a:solidFill>
                  <a:srgbClr val="FFFF66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Sensor poller</a:t>
            </a:r>
            <a:r>
              <a:rPr lang="en" sz="2200" dirty="0">
                <a:latin typeface="Aptos" panose="020B0004020202020204" pitchFamily="34" charset="0"/>
                <a:cs typeface="Aparajita" panose="020B0502040204020203" pitchFamily="18" charset="0"/>
              </a:rPr>
              <a:t>: via </a:t>
            </a:r>
            <a:r>
              <a:rPr lang="en" sz="2200" b="1" dirty="0">
                <a:latin typeface="Aptos" panose="020B0004020202020204" pitchFamily="34" charset="0"/>
                <a:cs typeface="Aparajita" panose="020B0502040204020203" pitchFamily="18" charset="0"/>
              </a:rPr>
              <a:t>REST API </a:t>
            </a:r>
            <a:r>
              <a:rPr lang="en" sz="2200" dirty="0">
                <a:latin typeface="Aptos" panose="020B0004020202020204" pitchFamily="34" charset="0"/>
                <a:cs typeface="Aparajita" panose="020B0502040204020203" pitchFamily="18" charset="0"/>
              </a:rPr>
              <a:t>acquires data from sensors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" sz="2200" dirty="0">
              <a:latin typeface="Aptos" panose="020B0004020202020204" pitchFamily="34" charset="0"/>
              <a:cs typeface="Aparajita" panose="020B0502040204020203" pitchFamily="18" charset="0"/>
            </a:endParaRP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" sz="2200" b="1" dirty="0">
                <a:solidFill>
                  <a:srgbClr val="FFFF66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Telemetry poller</a:t>
            </a:r>
            <a:r>
              <a:rPr lang="en" sz="2200" dirty="0">
                <a:latin typeface="Aptos" panose="020B0004020202020204" pitchFamily="34" charset="0"/>
                <a:cs typeface="Aparajita" panose="020B0502040204020203" pitchFamily="18" charset="0"/>
              </a:rPr>
              <a:t>: via </a:t>
            </a:r>
            <a:r>
              <a:rPr lang="en" sz="2200" b="1" dirty="0">
                <a:latin typeface="Aptos" panose="020B0004020202020204" pitchFamily="34" charset="0"/>
                <a:cs typeface="Aparajita" panose="020B0502040204020203" pitchFamily="18" charset="0"/>
              </a:rPr>
              <a:t>WebSocket</a:t>
            </a:r>
            <a:r>
              <a:rPr lang="en" sz="2200" dirty="0">
                <a:latin typeface="Aptos" panose="020B0004020202020204" pitchFamily="34" charset="0"/>
                <a:cs typeface="Aparajita" panose="020B0502040204020203" pitchFamily="18" charset="0"/>
              </a:rPr>
              <a:t> receives data from telemetry</a:t>
            </a:r>
          </a:p>
          <a:p>
            <a:endParaRPr lang="en" sz="2200" dirty="0">
              <a:latin typeface="Aptos" panose="020B0004020202020204" pitchFamily="34" charset="0"/>
              <a:cs typeface="Aparajita" panose="020B0502040204020203" pitchFamily="18" charset="0"/>
            </a:endParaRPr>
          </a:p>
          <a:p>
            <a:pPr marL="0" indent="0"/>
            <a:r>
              <a:rPr lang="en" sz="2200" dirty="0">
                <a:latin typeface="Aptos" panose="020B0004020202020204" pitchFamily="34" charset="0"/>
                <a:cs typeface="Aparajita" panose="020B0502040204020203" pitchFamily="18" charset="0"/>
              </a:rPr>
              <a:t>Both of them push the data to the </a:t>
            </a:r>
            <a:r>
              <a:rPr lang="en" sz="2200" b="1" dirty="0">
                <a:latin typeface="Aptos" panose="020B0004020202020204" pitchFamily="34" charset="0"/>
                <a:cs typeface="Aparajita" panose="020B0502040204020203" pitchFamily="18" charset="0"/>
              </a:rPr>
              <a:t>unnormalized</a:t>
            </a:r>
            <a:r>
              <a:rPr lang="en" sz="2200" dirty="0">
                <a:latin typeface="Aptos" panose="020B0004020202020204" pitchFamily="34" charset="0"/>
                <a:cs typeface="Aparajita" panose="020B0502040204020203" pitchFamily="18" charset="0"/>
              </a:rPr>
              <a:t> exchange. Furthermore data schema validation is ensured with pydantic </a:t>
            </a:r>
            <a:r>
              <a:rPr lang="en" sz="2200" i="1" dirty="0">
                <a:latin typeface="Aptos" panose="020B0004020202020204" pitchFamily="34" charset="0"/>
                <a:cs typeface="Aparajita" panose="020B0502040204020203" pitchFamily="18" charset="0"/>
              </a:rPr>
              <a:t>BaseModel</a:t>
            </a:r>
            <a:r>
              <a:rPr lang="en" sz="2200" dirty="0">
                <a:latin typeface="Aptos" panose="020B0004020202020204" pitchFamily="34" charset="0"/>
                <a:cs typeface="Aparajita" panose="020B0502040204020203" pitchFamily="18" charset="0"/>
              </a:rPr>
              <a:t>.</a:t>
            </a:r>
          </a:p>
          <a:p>
            <a:pPr marL="0" indent="0"/>
            <a:endParaRPr lang="e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>
          <a:extLst>
            <a:ext uri="{FF2B5EF4-FFF2-40B4-BE49-F238E27FC236}">
              <a16:creationId xmlns:a16="http://schemas.microsoft.com/office/drawing/2014/main" id="{FC0E1E6B-7AC7-F657-F923-B97928078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166EF07D-E818-23CA-39DB-8E57442DF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939" y="130664"/>
            <a:ext cx="10515600" cy="1325563"/>
          </a:xfrm>
        </p:spPr>
        <p:txBody>
          <a:bodyPr/>
          <a:lstStyle/>
          <a:p>
            <a:r>
              <a:rPr lang="it-IT" sz="4000" b="1" dirty="0" err="1">
                <a:latin typeface="Aptos Display" panose="020B0004020202020204" pitchFamily="34" charset="0"/>
              </a:rPr>
              <a:t>Normalizer</a:t>
            </a:r>
            <a:endParaRPr lang="it-IT" sz="4000" b="1" dirty="0">
              <a:latin typeface="Aptos Display" panose="020B0004020202020204" pitchFamily="34" charset="0"/>
            </a:endParaRP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22689217-A35F-14A9-03D4-9460DA900497}"/>
              </a:ext>
            </a:extLst>
          </p:cNvPr>
          <p:cNvSpPr txBox="1">
            <a:spLocks/>
          </p:cNvSpPr>
          <p:nvPr/>
        </p:nvSpPr>
        <p:spPr>
          <a:xfrm>
            <a:off x="679939" y="1139704"/>
            <a:ext cx="7620000" cy="4351338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This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microservice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is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responsible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for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unifying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the </a:t>
            </a:r>
            <a:r>
              <a:rPr lang="it-IT" sz="2200" b="1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etherogeneous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data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into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a </a:t>
            </a:r>
            <a:r>
              <a:rPr lang="it-IT" sz="2200" b="1" dirty="0" err="1">
                <a:solidFill>
                  <a:srgbClr val="FFFF2F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unified</a:t>
            </a:r>
            <a:r>
              <a:rPr lang="it-IT" sz="2200" b="1" dirty="0">
                <a:solidFill>
                  <a:srgbClr val="FFFF2F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</a:t>
            </a:r>
            <a:r>
              <a:rPr lang="it-IT" sz="2200" b="1" dirty="0" err="1">
                <a:solidFill>
                  <a:srgbClr val="FFFF2F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internal</a:t>
            </a:r>
            <a:r>
              <a:rPr lang="it-IT" sz="2200" b="1" dirty="0">
                <a:solidFill>
                  <a:srgbClr val="FFFF2F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schema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. </a:t>
            </a:r>
          </a:p>
          <a:p>
            <a:endParaRPr lang="it-IT" sz="2200" dirty="0">
              <a:solidFill>
                <a:schemeClr val="lt1"/>
              </a:solidFill>
              <a:latin typeface="Aptos" panose="020B0004020202020204" pitchFamily="34" charset="0"/>
              <a:cs typeface="Aparajita" panose="020B0502040204020203" pitchFamily="18" charset="0"/>
              <a:sym typeface="Overpass"/>
            </a:endParaRPr>
          </a:p>
          <a:p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An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attempt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was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made to use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two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different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schema, to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distinguish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between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sensors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and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telemetry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, to reduce the overhead of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representing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both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at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once,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given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that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telemetry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is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far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less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frequent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than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sensor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data.</a:t>
            </a:r>
          </a:p>
          <a:p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Ultimately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,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we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managed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to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represent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both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streams in a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unified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manner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  <a:sym typeface="Overpass"/>
              </a:rPr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77075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4FD14B21-C8C3-8ADF-E9DE-4FCFDB756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939" y="435464"/>
            <a:ext cx="10515600" cy="1325563"/>
          </a:xfrm>
        </p:spPr>
        <p:txBody>
          <a:bodyPr/>
          <a:lstStyle/>
          <a:p>
            <a:pPr algn="l"/>
            <a:r>
              <a:rPr lang="it-IT" sz="4000" b="1" dirty="0" err="1">
                <a:latin typeface="Aptos Display" panose="020B0004020202020204" pitchFamily="34" charset="0"/>
              </a:rPr>
              <a:t>Backend</a:t>
            </a:r>
            <a:r>
              <a:rPr lang="it-IT" sz="4000" b="1" dirty="0">
                <a:latin typeface="Aptos Display" panose="020B0004020202020204" pitchFamily="34" charset="0"/>
              </a:rPr>
              <a:t> and </a:t>
            </a:r>
            <a:r>
              <a:rPr lang="it-IT" sz="4000" b="1" dirty="0" err="1">
                <a:latin typeface="Aptos Display" panose="020B0004020202020204" pitchFamily="34" charset="0"/>
              </a:rPr>
              <a:t>Frontend</a:t>
            </a:r>
            <a:endParaRPr lang="it-IT" sz="4000" b="1" dirty="0">
              <a:latin typeface="Aptos Display" panose="020B0004020202020204" pitchFamily="34" charset="0"/>
            </a:endParaRP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80743CEC-BAB9-A83E-5527-9BD6BEBB88DD}"/>
              </a:ext>
            </a:extLst>
          </p:cNvPr>
          <p:cNvSpPr txBox="1">
            <a:spLocks/>
          </p:cNvSpPr>
          <p:nvPr/>
        </p:nvSpPr>
        <p:spPr>
          <a:xfrm>
            <a:off x="679940" y="1206805"/>
            <a:ext cx="7784122" cy="43513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For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these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two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microservices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,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communication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-wise,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we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opted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for a </a:t>
            </a:r>
            <a:r>
              <a:rPr lang="it-IT" sz="2200" b="1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WebSocket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paradigm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,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because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:</a:t>
            </a:r>
          </a:p>
          <a:p>
            <a:endParaRPr lang="it-IT" sz="2200" dirty="0">
              <a:solidFill>
                <a:schemeClr val="lt1"/>
              </a:solidFill>
              <a:latin typeface="Aptos" panose="020B0004020202020204" pitchFamily="34" charset="0"/>
              <a:cs typeface="Aparajita" panose="020B0502040204020203" pitchFamily="18" charset="0"/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The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header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size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is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way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smaller</a:t>
            </a:r>
            <a:endParaRPr lang="it-IT" sz="2200" dirty="0">
              <a:solidFill>
                <a:schemeClr val="lt1"/>
              </a:solidFill>
              <a:latin typeface="Aptos" panose="020B0004020202020204" pitchFamily="34" charset="0"/>
              <a:cs typeface="Aparajita" panose="020B0502040204020203" pitchFamily="18" charset="0"/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The connection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is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persistent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and full-duplex</a:t>
            </a:r>
          </a:p>
          <a:p>
            <a:endParaRPr lang="it-IT" sz="2200" dirty="0">
              <a:solidFill>
                <a:schemeClr val="lt1"/>
              </a:solidFill>
              <a:latin typeface="Aptos" panose="020B0004020202020204" pitchFamily="34" charset="0"/>
              <a:cs typeface="Aparajita" panose="020B0502040204020203" pitchFamily="18" charset="0"/>
            </a:endParaRPr>
          </a:p>
          <a:p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These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properties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fit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our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</a:t>
            </a:r>
            <a:r>
              <a:rPr lang="it-IT" sz="2200" b="1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low </a:t>
            </a:r>
            <a:r>
              <a:rPr lang="it-IT" sz="2200" b="1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latency</a:t>
            </a:r>
            <a:r>
              <a:rPr lang="it-IT" sz="2200" b="1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 </a:t>
            </a:r>
            <a:r>
              <a:rPr lang="it-IT" sz="2200" dirty="0" err="1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requirements</a:t>
            </a:r>
            <a:r>
              <a:rPr lang="it-IT" sz="2200" dirty="0">
                <a:solidFill>
                  <a:schemeClr val="lt1"/>
                </a:solidFill>
                <a:latin typeface="Aptos" panose="020B0004020202020204" pitchFamily="34" charset="0"/>
                <a:cs typeface="Aparajita" panose="020B0502040204020203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25280-B6C1-A90F-458E-DB4C5FE92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E4282-954C-A1EC-5F8A-2EA6CC3A3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092" y="445025"/>
            <a:ext cx="7704000" cy="572700"/>
          </a:xfrm>
        </p:spPr>
        <p:txBody>
          <a:bodyPr/>
          <a:lstStyle/>
          <a:p>
            <a:r>
              <a:rPr lang="it-IT" sz="4000" b="1" dirty="0">
                <a:latin typeface="Aptos Display" panose="020B0004020202020204" pitchFamily="34" charset="0"/>
              </a:rPr>
              <a:t>Rule </a:t>
            </a:r>
            <a:r>
              <a:rPr lang="it-IT" sz="4000" b="1" dirty="0" err="1">
                <a:latin typeface="Aptos Display" panose="020B0004020202020204" pitchFamily="34" charset="0"/>
              </a:rPr>
              <a:t>automation</a:t>
            </a:r>
            <a:r>
              <a:rPr lang="it-IT" sz="4000" b="1" dirty="0">
                <a:latin typeface="Aptos Display" panose="020B0004020202020204" pitchFamily="34" charset="0"/>
              </a:rPr>
              <a:t> </a:t>
            </a:r>
            <a:r>
              <a:rPr lang="it-IT" sz="4000" b="1" dirty="0" err="1">
                <a:latin typeface="Aptos Display" panose="020B0004020202020204" pitchFamily="34" charset="0"/>
              </a:rPr>
              <a:t>engine</a:t>
            </a:r>
            <a:endParaRPr lang="en" sz="4000" b="1" dirty="0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C04FB-1F22-2174-541A-7C2471DA9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2092" y="1017725"/>
            <a:ext cx="8517785" cy="3520200"/>
          </a:xfrm>
        </p:spPr>
        <p:txBody>
          <a:bodyPr/>
          <a:lstStyle/>
          <a:p>
            <a:pPr marL="0" indent="0">
              <a:buNone/>
            </a:pP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Exactly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as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the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frontend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,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it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gathers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the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normalized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data via </a:t>
            </a:r>
            <a:r>
              <a:rPr lang="it-IT" sz="2200" b="1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WebSocket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which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is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then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used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to compare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against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the </a:t>
            </a:r>
            <a:r>
              <a:rPr lang="it-IT" sz="2200" b="1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rules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stored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in the database,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taking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action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upon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verifying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the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conditions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, by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performing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a POST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request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to the simulator.</a:t>
            </a:r>
          </a:p>
          <a:p>
            <a:pPr marL="0" indent="0">
              <a:buNone/>
            </a:pPr>
            <a:endParaRPr lang="it-IT" sz="2200" dirty="0">
              <a:latin typeface="Aptos" panose="020B0004020202020204" pitchFamily="34" charset="0"/>
              <a:cs typeface="Aparajita" panose="020B0502040204020203" pitchFamily="18" charset="0"/>
              <a:sym typeface="Arial"/>
            </a:endParaRPr>
          </a:p>
          <a:p>
            <a:pPr marL="0" indent="0">
              <a:buNone/>
            </a:pP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As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it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concerns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the database,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we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chose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b="1" dirty="0" err="1">
                <a:solidFill>
                  <a:srgbClr val="FFFF66"/>
                </a:solidFill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SQLite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since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the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application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requires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just one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table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whose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cardinality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will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not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exceed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thousands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of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rows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. In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addition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,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we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do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not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perform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lots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of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writes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,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especially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not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in a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concurrent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manner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,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since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we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are alone on Mars.</a:t>
            </a:r>
          </a:p>
          <a:p>
            <a:pPr marL="0" indent="0">
              <a:buNone/>
            </a:pP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Given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these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properties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SQLite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seemed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a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perfect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fit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for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our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  <a:sym typeface="Arial"/>
              </a:rPr>
              <a:t> system.</a:t>
            </a:r>
          </a:p>
          <a:p>
            <a:pPr marL="0" indent="0">
              <a:buNone/>
            </a:pPr>
            <a:endParaRPr lang="en" noProof="0" dirty="0"/>
          </a:p>
        </p:txBody>
      </p:sp>
    </p:spTree>
    <p:extLst>
      <p:ext uri="{BB962C8B-B14F-4D97-AF65-F5344CB8AC3E}">
        <p14:creationId xmlns:p14="http://schemas.microsoft.com/office/powerpoint/2010/main" val="819928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EB4B0FA9-2EA2-ABA5-006C-0DE7BCAF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>
            <a:extLst>
              <a:ext uri="{FF2B5EF4-FFF2-40B4-BE49-F238E27FC236}">
                <a16:creationId xmlns:a16="http://schemas.microsoft.com/office/drawing/2014/main" id="{E5355DC6-8E2C-3DED-1B29-D462F904F3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65016" y="3132281"/>
            <a:ext cx="542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ptos Display" panose="020B0004020202020204" pitchFamily="34" charset="0"/>
              </a:rPr>
              <a:t>USER STORIES</a:t>
            </a:r>
            <a:endParaRPr dirty="0">
              <a:latin typeface="Aptos Display" panose="020B0004020202020204" pitchFamily="34" charset="0"/>
            </a:endParaRPr>
          </a:p>
        </p:txBody>
      </p:sp>
      <p:sp>
        <p:nvSpPr>
          <p:cNvPr id="5" name="Google Shape;178;p36">
            <a:extLst>
              <a:ext uri="{FF2B5EF4-FFF2-40B4-BE49-F238E27FC236}">
                <a16:creationId xmlns:a16="http://schemas.microsoft.com/office/drawing/2014/main" id="{06D7EB66-C197-6002-34EE-17C44B370E89}"/>
              </a:ext>
            </a:extLst>
          </p:cNvPr>
          <p:cNvSpPr/>
          <p:nvPr/>
        </p:nvSpPr>
        <p:spPr>
          <a:xfrm>
            <a:off x="6140892" y="1874679"/>
            <a:ext cx="1506000" cy="1010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71;p35">
            <a:extLst>
              <a:ext uri="{FF2B5EF4-FFF2-40B4-BE49-F238E27FC236}">
                <a16:creationId xmlns:a16="http://schemas.microsoft.com/office/drawing/2014/main" id="{B965CC85-9C7C-CE3D-09E7-61F0598D5C59}"/>
              </a:ext>
            </a:extLst>
          </p:cNvPr>
          <p:cNvSpPr txBox="1">
            <a:spLocks/>
          </p:cNvSpPr>
          <p:nvPr/>
        </p:nvSpPr>
        <p:spPr>
          <a:xfrm flipH="1">
            <a:off x="6600561" y="1936527"/>
            <a:ext cx="497446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usso One"/>
              <a:buNone/>
              <a:defRPr sz="4500" b="0" i="0" u="none" strike="noStrike" cap="none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it-IT" sz="6000" dirty="0"/>
              <a:t>2</a:t>
            </a:r>
            <a:endParaRPr lang="it-IT" dirty="0"/>
          </a:p>
        </p:txBody>
      </p:sp>
      <p:pic>
        <p:nvPicPr>
          <p:cNvPr id="3" name="Google Shape;501;p55">
            <a:extLst>
              <a:ext uri="{FF2B5EF4-FFF2-40B4-BE49-F238E27FC236}">
                <a16:creationId xmlns:a16="http://schemas.microsoft.com/office/drawing/2014/main" id="{98903CA2-AEB4-1B13-F1BD-E9FDB06AB5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9839"/>
          <a:stretch/>
        </p:blipFill>
        <p:spPr>
          <a:xfrm>
            <a:off x="351684" y="1434832"/>
            <a:ext cx="2388624" cy="3394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65;p34">
            <a:extLst>
              <a:ext uri="{FF2B5EF4-FFF2-40B4-BE49-F238E27FC236}">
                <a16:creationId xmlns:a16="http://schemas.microsoft.com/office/drawing/2014/main" id="{CD7A0A2C-882F-0D24-38EE-A03B706ED1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3758" r="13758"/>
          <a:stretch/>
        </p:blipFill>
        <p:spPr>
          <a:xfrm>
            <a:off x="2618735" y="1659916"/>
            <a:ext cx="1022924" cy="2449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467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7116D-AFD3-2E8A-9EF9-954A57E35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D3286-79C2-767A-78FD-C57A9234D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24" y="475850"/>
            <a:ext cx="7704000" cy="572700"/>
          </a:xfrm>
        </p:spPr>
        <p:txBody>
          <a:bodyPr/>
          <a:lstStyle/>
          <a:p>
            <a:r>
              <a:rPr lang="en" sz="4000" b="1" noProof="0" dirty="0">
                <a:latin typeface="Aptos Display" panose="020B0004020202020204" pitchFamily="34" charset="0"/>
              </a:rPr>
              <a:t>Latest Data</a:t>
            </a:r>
            <a:endParaRPr lang="en" sz="3200" b="1" noProof="0" dirty="0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47080-B7F4-9551-4577-5DC0D207A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6924" y="1048550"/>
            <a:ext cx="8494338" cy="3520200"/>
          </a:xfrm>
        </p:spPr>
        <p:txBody>
          <a:bodyPr/>
          <a:lstStyle/>
          <a:p>
            <a:pPr marL="0" indent="0">
              <a:buNone/>
            </a:pP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As a user, I want to visualize the latest data reported by each sensor.</a:t>
            </a:r>
          </a:p>
          <a:p>
            <a:pPr marL="0" indent="0">
              <a:buNone/>
            </a:pPr>
            <a:endParaRPr lang="en" noProof="0" dirty="0"/>
          </a:p>
        </p:txBody>
      </p:sp>
      <p:pic>
        <p:nvPicPr>
          <p:cNvPr id="4" name="Segnaposto contenuto 4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CA0F6116-FB7A-827D-A231-3CFC0F106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540" y="1832327"/>
            <a:ext cx="5666920" cy="27364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9274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A9160-C6E3-70A9-AF9F-16BA1CB35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D4E19-ED0F-E594-6585-ED490858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24" y="475850"/>
            <a:ext cx="7704000" cy="572700"/>
          </a:xfrm>
        </p:spPr>
        <p:txBody>
          <a:bodyPr/>
          <a:lstStyle/>
          <a:p>
            <a:r>
              <a:rPr lang="en" sz="4000" b="1" noProof="0" dirty="0">
                <a:latin typeface="Aptos Display" panose="020B0004020202020204" pitchFamily="34" charset="0"/>
              </a:rPr>
              <a:t>Historical values</a:t>
            </a:r>
            <a:endParaRPr lang="en" sz="3200" b="1" noProof="0" dirty="0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407C6-15B6-0717-C0DC-96C18829C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17476" y="1048550"/>
            <a:ext cx="3575983" cy="3520200"/>
          </a:xfrm>
        </p:spPr>
        <p:txBody>
          <a:bodyPr/>
          <a:lstStyle/>
          <a:p>
            <a:pPr marL="0" indent="0">
              <a:buNone/>
            </a:pP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As a user, I want to visualize the historical values for each sensor, so that I can see the evolution of the situation over time.</a:t>
            </a:r>
            <a:endParaRPr lang="en" noProof="0" dirty="0"/>
          </a:p>
        </p:txBody>
      </p:sp>
      <p:pic>
        <p:nvPicPr>
          <p:cNvPr id="5" name="Immagine 5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11FD0B9D-1500-70E8-4005-10B2CF21C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41" y="1127974"/>
            <a:ext cx="3986290" cy="376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579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7C079-9C1C-3E17-1F31-680969D30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EA66E-E869-DDEB-3E17-5E241BE16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24" y="475850"/>
            <a:ext cx="7704000" cy="572700"/>
          </a:xfrm>
        </p:spPr>
        <p:txBody>
          <a:bodyPr/>
          <a:lstStyle/>
          <a:p>
            <a:r>
              <a:rPr lang="en" sz="4000" b="1" noProof="0" dirty="0">
                <a:latin typeface="Aptos Display" panose="020B0004020202020204" pitchFamily="34" charset="0"/>
              </a:rPr>
              <a:t>Manual actuators</a:t>
            </a:r>
            <a:endParaRPr lang="en" sz="3200" b="1" noProof="0" dirty="0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FD2BE-CBCD-0099-1208-1DBD77B1C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6924" y="1048550"/>
            <a:ext cx="8494338" cy="3520200"/>
          </a:xfrm>
        </p:spPr>
        <p:txBody>
          <a:bodyPr/>
          <a:lstStyle/>
          <a:p>
            <a:pPr marL="0" indent="0">
              <a:buNone/>
            </a:pP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As a </a:t>
            </a:r>
            <a:r>
              <a:rPr lang="en-US" sz="2200" dirty="0">
                <a:latin typeface="Aptos" panose="020B0004020202020204" pitchFamily="34" charset="0"/>
                <a:cs typeface="Aparajita" panose="020B0502040204020203" pitchFamily="18" charset="0"/>
              </a:rPr>
              <a:t>user, 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</a:rPr>
              <a:t>I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</a:rPr>
              <a:t>want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</a:rPr>
              <a:t> to be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</a:rPr>
              <a:t>able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</a:rPr>
              <a:t> to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</a:rPr>
              <a:t>manually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</a:rPr>
              <a:t> trigger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</a:rPr>
              <a:t>actuators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</a:rPr>
              <a:t>, so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</a:rPr>
              <a:t>that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</a:rPr>
              <a:t> I can take action in </a:t>
            </a:r>
            <a:r>
              <a:rPr lang="it-IT" sz="2200" dirty="0" err="1">
                <a:latin typeface="Aptos" panose="020B0004020202020204" pitchFamily="34" charset="0"/>
                <a:cs typeface="Aparajita" panose="020B0502040204020203" pitchFamily="18" charset="0"/>
              </a:rPr>
              <a:t>emergency</a:t>
            </a:r>
            <a:r>
              <a:rPr lang="it-IT" sz="2200" dirty="0">
                <a:latin typeface="Aptos" panose="020B0004020202020204" pitchFamily="34" charset="0"/>
                <a:cs typeface="Aparajita" panose="020B0502040204020203" pitchFamily="18" charset="0"/>
              </a:rPr>
              <a:t> situations.</a:t>
            </a:r>
            <a:endParaRPr lang="en-US" sz="2200" dirty="0">
              <a:latin typeface="Aptos" panose="020B0004020202020204" pitchFamily="34" charset="0"/>
              <a:cs typeface="Aparajita" panose="020B0502040204020203" pitchFamily="18" charset="0"/>
            </a:endParaRPr>
          </a:p>
          <a:p>
            <a:pPr marL="0" indent="0">
              <a:buNone/>
            </a:pPr>
            <a:endParaRPr lang="en" noProof="0" dirty="0"/>
          </a:p>
        </p:txBody>
      </p:sp>
      <p:pic>
        <p:nvPicPr>
          <p:cNvPr id="5" name="Immagine 7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E4948462-FBB7-D941-7F46-E9D6AC7F0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750" y="2143050"/>
            <a:ext cx="6540500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43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B5B06-9FB8-7F88-5C62-EB75E94AA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58252-F2A5-4B4C-7344-AA64D2DF7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24" y="1032350"/>
            <a:ext cx="7704000" cy="572700"/>
          </a:xfrm>
        </p:spPr>
        <p:txBody>
          <a:bodyPr/>
          <a:lstStyle/>
          <a:p>
            <a:r>
              <a:rPr lang="en" sz="4000" b="1" noProof="0" dirty="0">
                <a:latin typeface="Aptos Display" panose="020B0004020202020204" pitchFamily="34" charset="0"/>
              </a:rPr>
              <a:t>Create rules</a:t>
            </a:r>
            <a:endParaRPr lang="en" sz="3200" b="1" noProof="0" dirty="0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6A455-B5CA-4E53-F5F3-6A1399CA1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6924" y="1605050"/>
            <a:ext cx="3688237" cy="3520200"/>
          </a:xfrm>
        </p:spPr>
        <p:txBody>
          <a:bodyPr/>
          <a:lstStyle/>
          <a:p>
            <a:pPr marL="0" indent="0">
              <a:buNone/>
            </a:pP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As a </a:t>
            </a:r>
            <a:r>
              <a:rPr lang="en-US" sz="2200" dirty="0">
                <a:latin typeface="Aptos" panose="020B0004020202020204" pitchFamily="34" charset="0"/>
                <a:cs typeface="Aparajita" panose="020B0502040204020203" pitchFamily="18" charset="0"/>
              </a:rPr>
              <a:t>user, I want to specify rules based on values reported by the sensor and take action through the actuators, so that </a:t>
            </a:r>
            <a:r>
              <a:rPr lang="en-US" sz="2200" dirty="0" err="1">
                <a:latin typeface="Aptos" panose="020B0004020202020204" pitchFamily="34" charset="0"/>
                <a:cs typeface="Aparajita" panose="020B0502040204020203" pitchFamily="18" charset="0"/>
              </a:rPr>
              <a:t>i</a:t>
            </a:r>
            <a:r>
              <a:rPr lang="en-US" sz="2200" dirty="0">
                <a:latin typeface="Aptos" panose="020B0004020202020204" pitchFamily="34" charset="0"/>
                <a:cs typeface="Aparajita" panose="020B0502040204020203" pitchFamily="18" charset="0"/>
              </a:rPr>
              <a:t> can automate my work.</a:t>
            </a:r>
            <a:endParaRPr lang="en" noProof="0" dirty="0"/>
          </a:p>
        </p:txBody>
      </p:sp>
      <p:pic>
        <p:nvPicPr>
          <p:cNvPr id="4" name="Immagine 4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46E8A1BE-EEDF-BF6C-DBBC-67B3A45E7A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91" b="17147"/>
          <a:stretch>
            <a:fillRect/>
          </a:stretch>
        </p:blipFill>
        <p:spPr>
          <a:xfrm>
            <a:off x="4372708" y="309660"/>
            <a:ext cx="4344368" cy="452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142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744A1-315F-E755-373D-B1B4B3383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603AB-E446-1599-69B8-976FE445F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5723" y="1602292"/>
            <a:ext cx="7704000" cy="572700"/>
          </a:xfrm>
        </p:spPr>
        <p:txBody>
          <a:bodyPr/>
          <a:lstStyle/>
          <a:p>
            <a:r>
              <a:rPr lang="en" sz="4000" b="1" noProof="0" dirty="0">
                <a:latin typeface="Aptos Display" panose="020B0004020202020204" pitchFamily="34" charset="0"/>
              </a:rPr>
              <a:t>Delete rules</a:t>
            </a:r>
            <a:endParaRPr lang="en" sz="3200" b="1" noProof="0" dirty="0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79775-8962-13FE-6D1E-3C3B46D82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5723" y="2174992"/>
            <a:ext cx="3903785" cy="3520200"/>
          </a:xfrm>
        </p:spPr>
        <p:txBody>
          <a:bodyPr/>
          <a:lstStyle/>
          <a:p>
            <a:pPr marL="0" indent="0">
              <a:buNone/>
            </a:pP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As a user, I want to delete previously specified rules.</a:t>
            </a:r>
            <a:endParaRPr lang="en" noProof="0" dirty="0"/>
          </a:p>
        </p:txBody>
      </p:sp>
      <p:pic>
        <p:nvPicPr>
          <p:cNvPr id="4" name="Immagine 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F1D71DB1-329C-B74B-EEEE-9CCAF19A82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382"/>
          <a:stretch>
            <a:fillRect/>
          </a:stretch>
        </p:blipFill>
        <p:spPr>
          <a:xfrm>
            <a:off x="442060" y="355354"/>
            <a:ext cx="4332645" cy="443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326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547B1-A4C9-CA35-AC5C-7068CBC88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4E101-8FB1-5ED9-1A4A-9C51BEF3D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24" y="1315942"/>
            <a:ext cx="7704000" cy="572700"/>
          </a:xfrm>
        </p:spPr>
        <p:txBody>
          <a:bodyPr/>
          <a:lstStyle/>
          <a:p>
            <a:r>
              <a:rPr lang="en" sz="4000" b="1" dirty="0">
                <a:latin typeface="Aptos Display" panose="020B0004020202020204" pitchFamily="34" charset="0"/>
              </a:rPr>
              <a:t>Toggle</a:t>
            </a:r>
            <a:r>
              <a:rPr lang="en" sz="4000" b="1" noProof="0" dirty="0">
                <a:latin typeface="Aptos Display" panose="020B0004020202020204" pitchFamily="34" charset="0"/>
              </a:rPr>
              <a:t> rules</a:t>
            </a:r>
            <a:endParaRPr lang="en" sz="3200" b="1" noProof="0" dirty="0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81C3B-7E51-D5DF-174D-1B0FDB0CA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6924" y="1888642"/>
            <a:ext cx="3903785" cy="3520200"/>
          </a:xfrm>
        </p:spPr>
        <p:txBody>
          <a:bodyPr/>
          <a:lstStyle/>
          <a:p>
            <a:pPr marL="0" indent="0">
              <a:buNone/>
            </a:pP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As a user, I want to be able to temporarily toggle a rule, so that I can perform maintenance.</a:t>
            </a:r>
            <a:endParaRPr lang="en" noProof="0" dirty="0"/>
          </a:p>
        </p:txBody>
      </p:sp>
      <p:pic>
        <p:nvPicPr>
          <p:cNvPr id="5" name="Immagine 5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8EF31464-EAD8-D6A8-148A-F03610479F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353"/>
          <a:stretch>
            <a:fillRect/>
          </a:stretch>
        </p:blipFill>
        <p:spPr>
          <a:xfrm>
            <a:off x="4625724" y="281354"/>
            <a:ext cx="3942676" cy="460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126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88CDD-EB28-1C93-90C5-5D951C3AA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0DAE-D3E2-A372-EA48-A26B7075C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24" y="475850"/>
            <a:ext cx="7704000" cy="572700"/>
          </a:xfrm>
        </p:spPr>
        <p:txBody>
          <a:bodyPr/>
          <a:lstStyle/>
          <a:p>
            <a:r>
              <a:rPr lang="en" sz="4000" b="1" noProof="0" dirty="0">
                <a:latin typeface="Aptos Display" panose="020B0004020202020204" pitchFamily="34" charset="0"/>
              </a:rPr>
              <a:t>Rule activation</a:t>
            </a:r>
            <a:endParaRPr lang="en" sz="3200" b="1" noProof="0" dirty="0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BA2CB-52D3-FACF-C2A3-952E8030F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6924" y="1048550"/>
            <a:ext cx="8494338" cy="3520200"/>
          </a:xfrm>
        </p:spPr>
        <p:txBody>
          <a:bodyPr/>
          <a:lstStyle/>
          <a:p>
            <a:pPr marL="0" indent="0">
              <a:buNone/>
            </a:pP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As a </a:t>
            </a:r>
            <a:r>
              <a:rPr lang="en-US" sz="2200" dirty="0">
                <a:latin typeface="Aptos" panose="020B0004020202020204" pitchFamily="34" charset="0"/>
                <a:cs typeface="Aparajita" panose="020B0502040204020203" pitchFamily="18" charset="0"/>
              </a:rPr>
              <a:t>user, I want the system to identify which rule activated an actuator, so that everything is transparent.</a:t>
            </a:r>
            <a:endParaRPr lang="en" noProof="0" dirty="0"/>
          </a:p>
        </p:txBody>
      </p:sp>
      <p:pic>
        <p:nvPicPr>
          <p:cNvPr id="4" name="Immagine 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857BF18B-38D4-C434-1E46-B956ACA40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038" y="2133363"/>
            <a:ext cx="2697923" cy="268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302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2C282-14D6-EC4D-50AA-1EB3F40E0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DC94-5BC5-BF0A-FDD1-EDD65F9A6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5076" y="1442010"/>
            <a:ext cx="7704000" cy="572700"/>
          </a:xfrm>
        </p:spPr>
        <p:txBody>
          <a:bodyPr/>
          <a:lstStyle/>
          <a:p>
            <a:r>
              <a:rPr lang="en" sz="4000" b="1" dirty="0">
                <a:latin typeface="Aptos Display" panose="020B0004020202020204" pitchFamily="34" charset="0"/>
              </a:rPr>
              <a:t>Naming</a:t>
            </a:r>
            <a:r>
              <a:rPr lang="en" sz="4000" b="1" noProof="0" dirty="0">
                <a:latin typeface="Aptos Display" panose="020B0004020202020204" pitchFamily="34" charset="0"/>
              </a:rPr>
              <a:t> rules</a:t>
            </a:r>
            <a:endParaRPr lang="en" sz="3200" b="1" noProof="0" dirty="0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B1946-FA0C-CFA6-1F18-93B34FE73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65076" y="2103946"/>
            <a:ext cx="3903785" cy="3520200"/>
          </a:xfrm>
        </p:spPr>
        <p:txBody>
          <a:bodyPr/>
          <a:lstStyle/>
          <a:p>
            <a:pPr marL="0" indent="0">
              <a:buNone/>
            </a:pP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As a user, I want to give names to rules, so that I can easily identify rules.</a:t>
            </a:r>
            <a:endParaRPr lang="en" noProof="0" dirty="0"/>
          </a:p>
        </p:txBody>
      </p:sp>
      <p:pic>
        <p:nvPicPr>
          <p:cNvPr id="4" name="Immagine 5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17D23F54-37E7-61CE-E1DB-9D871EAB45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50" b="17501"/>
          <a:stretch>
            <a:fillRect/>
          </a:stretch>
        </p:blipFill>
        <p:spPr>
          <a:xfrm>
            <a:off x="557436" y="410752"/>
            <a:ext cx="4014564" cy="432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715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A1AE4-B718-4BFC-C32E-94FABC93C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73205-D6F6-8994-3DEA-399E017E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24" y="1315942"/>
            <a:ext cx="7704000" cy="572700"/>
          </a:xfrm>
        </p:spPr>
        <p:txBody>
          <a:bodyPr/>
          <a:lstStyle/>
          <a:p>
            <a:r>
              <a:rPr lang="en" sz="4000" b="1" dirty="0">
                <a:latin typeface="Aptos Display" panose="020B0004020202020204" pitchFamily="34" charset="0"/>
              </a:rPr>
              <a:t>Rule editing</a:t>
            </a:r>
            <a:endParaRPr lang="en" sz="3200" b="1" noProof="0" dirty="0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8CC3A-B88B-2959-ED98-DBBA81548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6924" y="1888642"/>
            <a:ext cx="3903785" cy="3520200"/>
          </a:xfrm>
        </p:spPr>
        <p:txBody>
          <a:bodyPr/>
          <a:lstStyle/>
          <a:p>
            <a:pPr marL="0" indent="0">
              <a:buNone/>
            </a:pP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As a user, I want to be able to edit a rule.</a:t>
            </a:r>
            <a:endParaRPr lang="en" noProof="0" dirty="0"/>
          </a:p>
        </p:txBody>
      </p:sp>
      <p:pic>
        <p:nvPicPr>
          <p:cNvPr id="4" name="Immagine 7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0B7D8E73-3A77-5D47-766D-3DF909B976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585"/>
          <a:stretch>
            <a:fillRect/>
          </a:stretch>
        </p:blipFill>
        <p:spPr>
          <a:xfrm>
            <a:off x="4635509" y="213245"/>
            <a:ext cx="3992676" cy="471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93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075E-20B4-4969-2BC7-91C1A39A9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80E21-5277-BBA4-0B01-722B8B031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24" y="675142"/>
            <a:ext cx="7704000" cy="572700"/>
          </a:xfrm>
        </p:spPr>
        <p:txBody>
          <a:bodyPr/>
          <a:lstStyle/>
          <a:p>
            <a:r>
              <a:rPr lang="en" sz="4000" b="1" noProof="0" dirty="0">
                <a:latin typeface="Aptos Display" panose="020B0004020202020204" pitchFamily="34" charset="0"/>
              </a:rPr>
              <a:t>Overall state</a:t>
            </a:r>
            <a:endParaRPr lang="en" sz="3200" b="1" noProof="0" dirty="0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14746-7771-BBCC-2CB6-838374021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6924" y="1247842"/>
            <a:ext cx="8494338" cy="3520200"/>
          </a:xfrm>
        </p:spPr>
        <p:txBody>
          <a:bodyPr/>
          <a:lstStyle/>
          <a:p>
            <a:pPr marL="0" indent="0">
              <a:buNone/>
            </a:pP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As a user, I want to see at a glance the overall health of the system.</a:t>
            </a:r>
          </a:p>
          <a:p>
            <a:pPr marL="0" indent="0">
              <a:buNone/>
            </a:pPr>
            <a:endParaRPr lang="en" noProof="0" dirty="0"/>
          </a:p>
        </p:txBody>
      </p:sp>
      <p:pic>
        <p:nvPicPr>
          <p:cNvPr id="4" name="Immagine 6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68937152-2CE0-D2BD-CE2A-42C37DED8D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8" b="23734"/>
          <a:stretch>
            <a:fillRect/>
          </a:stretch>
        </p:blipFill>
        <p:spPr>
          <a:xfrm>
            <a:off x="892098" y="2118914"/>
            <a:ext cx="7407352" cy="159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863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4736A-87C0-6230-AE4F-ACD0ED5B8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0028-1E91-A6E9-5266-B43BAB9E2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24" y="525957"/>
            <a:ext cx="7704000" cy="572700"/>
          </a:xfrm>
        </p:spPr>
        <p:txBody>
          <a:bodyPr/>
          <a:lstStyle/>
          <a:p>
            <a:r>
              <a:rPr lang="en" sz="4000" b="1" noProof="0" dirty="0">
                <a:latin typeface="Aptos Display" panose="020B0004020202020204" pitchFamily="34" charset="0"/>
              </a:rPr>
              <a:t>Polling rate</a:t>
            </a:r>
            <a:endParaRPr lang="en" sz="3200" b="1" noProof="0" dirty="0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F0225-275C-C0BF-3B98-449EE724D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6924" y="1098657"/>
            <a:ext cx="7896461" cy="1473093"/>
          </a:xfrm>
        </p:spPr>
        <p:txBody>
          <a:bodyPr/>
          <a:lstStyle/>
          <a:p>
            <a:pPr marL="0" indent="0">
              <a:buNone/>
            </a:pP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As a user, I want to be able to control the polling rate of the data from the sensors, so that I can reduce the power consumption of the system.</a:t>
            </a:r>
          </a:p>
          <a:p>
            <a:pPr marL="0" indent="0">
              <a:buNone/>
            </a:pPr>
            <a:endParaRPr lang="en" noProof="0" dirty="0"/>
          </a:p>
        </p:txBody>
      </p:sp>
      <p:pic>
        <p:nvPicPr>
          <p:cNvPr id="5" name="Immagine 5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49464B88-8692-EFD5-D8CA-0EBCAD437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725" y="2571750"/>
            <a:ext cx="5244549" cy="190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77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3FAD4-BE21-FDE6-6634-774612005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268E0-6D0D-B6D3-0043-18ACAA88E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24" y="525957"/>
            <a:ext cx="7704000" cy="572700"/>
          </a:xfrm>
        </p:spPr>
        <p:txBody>
          <a:bodyPr/>
          <a:lstStyle/>
          <a:p>
            <a:r>
              <a:rPr lang="en" sz="4000" b="1" noProof="0" dirty="0">
                <a:latin typeface="Aptos Display" panose="020B0004020202020204" pitchFamily="34" charset="0"/>
              </a:rPr>
              <a:t>Trend</a:t>
            </a:r>
            <a:endParaRPr lang="en" sz="3200" b="1" noProof="0" dirty="0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37B7-EBEE-76AE-CEB5-5F62228D4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6924" y="1098657"/>
            <a:ext cx="7896461" cy="1473093"/>
          </a:xfrm>
        </p:spPr>
        <p:txBody>
          <a:bodyPr/>
          <a:lstStyle/>
          <a:p>
            <a:pPr marL="0" indent="0">
              <a:buNone/>
            </a:pP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As a user, I want to be able to quickly see the trend of sensed data, so that I can quickly monitor the situation.</a:t>
            </a:r>
          </a:p>
          <a:p>
            <a:pPr marL="0" indent="0">
              <a:buNone/>
            </a:pPr>
            <a:endParaRPr lang="en" noProof="0" dirty="0"/>
          </a:p>
        </p:txBody>
      </p:sp>
      <p:pic>
        <p:nvPicPr>
          <p:cNvPr id="4" name="Immagine 5" descr="Immagine che contiene testo, schermata, linea, Carattere&#10;&#10;Il contenuto generato dall'IA potrebbe non essere corretto.">
            <a:extLst>
              <a:ext uri="{FF2B5EF4-FFF2-40B4-BE49-F238E27FC236}">
                <a16:creationId xmlns:a16="http://schemas.microsoft.com/office/drawing/2014/main" id="{E5C50050-D6C9-0627-4EB9-1B3806F4B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468" y="2159377"/>
            <a:ext cx="5246532" cy="240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25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B7827-4306-4366-0458-E8AD76F1C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752CD-923B-9657-9E9B-41940E5F2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4" y="1182852"/>
            <a:ext cx="7704000" cy="572700"/>
          </a:xfrm>
        </p:spPr>
        <p:txBody>
          <a:bodyPr/>
          <a:lstStyle/>
          <a:p>
            <a:r>
              <a:rPr lang="en" sz="4000" b="1" dirty="0">
                <a:latin typeface="Aptos Display" panose="020B0004020202020204" pitchFamily="34" charset="0"/>
              </a:rPr>
              <a:t>Delete all</a:t>
            </a:r>
            <a:r>
              <a:rPr lang="en" sz="4000" b="1" noProof="0" dirty="0">
                <a:latin typeface="Aptos Display" panose="020B0004020202020204" pitchFamily="34" charset="0"/>
              </a:rPr>
              <a:t> rules</a:t>
            </a:r>
            <a:endParaRPr lang="en" sz="3200" b="1" noProof="0" dirty="0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C975D-3ED2-6E81-F9D4-98D1F5FC1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414" y="1755552"/>
            <a:ext cx="3903785" cy="3520200"/>
          </a:xfrm>
        </p:spPr>
        <p:txBody>
          <a:bodyPr/>
          <a:lstStyle/>
          <a:p>
            <a:pPr marL="0" indent="0">
              <a:buNone/>
            </a:pP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As a user, I want to be able to remove all rules at once.</a:t>
            </a:r>
          </a:p>
        </p:txBody>
      </p:sp>
      <p:pic>
        <p:nvPicPr>
          <p:cNvPr id="5" name="Immagine 5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6EAF9158-8DCD-ECD7-A87E-6CFE1F118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3" y="196606"/>
            <a:ext cx="3667708" cy="475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85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BA79B-22DE-F1D1-99E1-8CC042C56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5C316-A16A-922A-4551-B080DFDF4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8925" y="1531246"/>
            <a:ext cx="7704000" cy="572700"/>
          </a:xfrm>
        </p:spPr>
        <p:txBody>
          <a:bodyPr/>
          <a:lstStyle/>
          <a:p>
            <a:r>
              <a:rPr lang="en" sz="4000" b="1" dirty="0">
                <a:latin typeface="Aptos Display" panose="020B0004020202020204" pitchFamily="34" charset="0"/>
              </a:rPr>
              <a:t>Suspend all</a:t>
            </a:r>
            <a:r>
              <a:rPr lang="en" sz="4000" b="1" noProof="0" dirty="0">
                <a:latin typeface="Aptos Display" panose="020B0004020202020204" pitchFamily="34" charset="0"/>
              </a:rPr>
              <a:t> rules</a:t>
            </a:r>
            <a:endParaRPr lang="en" sz="3200" b="1" noProof="0" dirty="0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C0CBA-D8FE-6BF7-1741-CD2F3A4D3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78925" y="2109461"/>
            <a:ext cx="3903785" cy="3520200"/>
          </a:xfrm>
        </p:spPr>
        <p:txBody>
          <a:bodyPr/>
          <a:lstStyle/>
          <a:p>
            <a:pPr marL="0" indent="0">
              <a:buNone/>
            </a:pP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As a user, I want to be able to enable/disable all rules at once.</a:t>
            </a:r>
          </a:p>
        </p:txBody>
      </p:sp>
      <p:pic>
        <p:nvPicPr>
          <p:cNvPr id="4" name="Immagine 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12FB4EE4-6314-6D19-D019-8B90F78C24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921"/>
          <a:stretch>
            <a:fillRect/>
          </a:stretch>
        </p:blipFill>
        <p:spPr>
          <a:xfrm>
            <a:off x="478710" y="380484"/>
            <a:ext cx="3552162" cy="438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429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E8DBA-E2BE-2DDF-9362-C429AC113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4675-0C0F-A370-69D0-5D5A017CB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24" y="525957"/>
            <a:ext cx="7704000" cy="572700"/>
          </a:xfrm>
        </p:spPr>
        <p:txBody>
          <a:bodyPr/>
          <a:lstStyle/>
          <a:p>
            <a:r>
              <a:rPr lang="en" sz="4000" b="1" noProof="0" dirty="0">
                <a:latin typeface="Aptos Display" panose="020B0004020202020204" pitchFamily="34" charset="0"/>
              </a:rPr>
              <a:t>Sensor status</a:t>
            </a:r>
            <a:endParaRPr lang="en" sz="3200" b="1" noProof="0" dirty="0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5C43E-17E8-525A-31B9-EFB849F3D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6924" y="1098657"/>
            <a:ext cx="7896461" cy="1473093"/>
          </a:xfrm>
        </p:spPr>
        <p:txBody>
          <a:bodyPr/>
          <a:lstStyle/>
          <a:p>
            <a:pPr marL="0" indent="0">
              <a:buNone/>
            </a:pPr>
            <a:r>
              <a:rPr lang="en-US" sz="2200" noProof="0" dirty="0">
                <a:latin typeface="Aptos" panose="020B0004020202020204" pitchFamily="34" charset="0"/>
                <a:cs typeface="Aparajita" panose="020B0502040204020203" pitchFamily="18" charset="0"/>
              </a:rPr>
              <a:t>As a user, I want to be able to see the status of each sensor.</a:t>
            </a:r>
          </a:p>
          <a:p>
            <a:pPr marL="0" indent="0">
              <a:buNone/>
            </a:pPr>
            <a:endParaRPr lang="en" noProof="0" dirty="0"/>
          </a:p>
        </p:txBody>
      </p:sp>
      <p:pic>
        <p:nvPicPr>
          <p:cNvPr id="5" name="Immagine 7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E6A806B6-C265-001E-3987-012B853E1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923" y="1767371"/>
            <a:ext cx="5334002" cy="275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842810"/>
      </p:ext>
    </p:extLst>
  </p:cSld>
  <p:clrMapOvr>
    <a:masterClrMapping/>
  </p:clrMapOvr>
</p:sld>
</file>

<file path=ppt/theme/theme1.xml><?xml version="1.0" encoding="utf-8"?>
<a:theme xmlns:a="http://schemas.openxmlformats.org/drawingml/2006/main" name="Mars Colonization Thesis by Slidesgo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</Words>
  <Application>Microsoft Office PowerPoint</Application>
  <PresentationFormat>On-screen Show (16:9)</PresentationFormat>
  <Paragraphs>68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Overpass</vt:lpstr>
      <vt:lpstr>Roboto Condensed Light</vt:lpstr>
      <vt:lpstr>Russo One</vt:lpstr>
      <vt:lpstr>Mars Colonization Thesis by Slidesgo</vt:lpstr>
      <vt:lpstr>PLAN(ET) MARS</vt:lpstr>
      <vt:lpstr>Architecture Design</vt:lpstr>
      <vt:lpstr>PowerPoint Presentation</vt:lpstr>
      <vt:lpstr>RabbitMQ</vt:lpstr>
      <vt:lpstr>Injectors</vt:lpstr>
      <vt:lpstr>Normalizer</vt:lpstr>
      <vt:lpstr>Backend and Frontend</vt:lpstr>
      <vt:lpstr>Rule automation engine</vt:lpstr>
      <vt:lpstr>USER STORIES</vt:lpstr>
      <vt:lpstr>Latest Data</vt:lpstr>
      <vt:lpstr>Historical values</vt:lpstr>
      <vt:lpstr>Manual actuators</vt:lpstr>
      <vt:lpstr>Create rules</vt:lpstr>
      <vt:lpstr>Delete rules</vt:lpstr>
      <vt:lpstr>Toggle rules</vt:lpstr>
      <vt:lpstr>Rule activation</vt:lpstr>
      <vt:lpstr>Naming rules</vt:lpstr>
      <vt:lpstr>Rule editing</vt:lpstr>
      <vt:lpstr>Overall state</vt:lpstr>
      <vt:lpstr>Polling rate</vt:lpstr>
      <vt:lpstr>Trend</vt:lpstr>
      <vt:lpstr>Delete all rules</vt:lpstr>
      <vt:lpstr>Suspend all rules</vt:lpstr>
      <vt:lpstr>Sensor status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Annalisa Verrando</dc:creator>
  <cp:lastModifiedBy>Annalisa Verrando</cp:lastModifiedBy>
  <cp:revision>4</cp:revision>
  <dcterms:modified xsi:type="dcterms:W3CDTF">2026-03-10T22:36:45Z</dcterms:modified>
</cp:coreProperties>
</file>